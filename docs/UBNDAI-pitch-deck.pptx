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34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93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0:00–0:30 | HOOK (10%). Đọc chậm one-liner. Không nhắc chữ 'LLM', 'RAG' ở slide này.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0:30–1:15 | PROBLEM (15%). Mở bằng nỗi đau, KHÔNG mở bằng công nghệ (lỗi #1 trong tài liệu).</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Người trả tiền (cơ quan) khác người dùng chính (người dân) — phải nói rõ ở slide Business Model.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1:15–2:00 | SOLUTION (15%). Nói KẾT QUẢ trước, công nghệ để dành slide sau.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2:00–3:00 | DEMO (20%) — phần nặng điểm nhất. Dừng lâu ở bước 3. Đừng giải thích kiến trúc trong lúc demo.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slide chống lại lỗi 'AI của em rất thông minh'. Luôn quy về kết quả và ranh giới an toàn.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3:00–4:00 | BIZ &amp; TRACTION (20%). Nếu chưa có traction thị trường, đừng giả vờ — đưa bằng chứng kỹ thuật + cam kết pilot.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dành cho tiêu chí AI Safety &amp; Trust. Nếu bị hỏi 'độ chính xác bao nhiêu', trả lời bằng chốt nhầm 0/60 trước, rồi mới nói độ phủ 60% trên bộ giữ riêng — tự nêu điểm yếu trước khi giám khảo nêu.</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Trả lời câu 'MOAT' trong 7 lớp lọc của nhà đầu tư.</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điểm yếu lớn nhất hiện tại của đội (tiêu chí Business Viability = 20 điểm).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Trả lời lỗi #4: 'Không rõ ai trả tiền'.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Thành thật về chỗ còn thiếu tạo niềm tin hơn là tỏ ra đủ mọi thứ.</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4:00–5:00 | VISION &amp; ASK (20%).</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Lỗi #5 trong tài liệu là 'thiếu Ask rõ ràng'. Câu Ask phải cụ thể, có số, có thời hạn.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Kết bằng lợi ích người dùng, không kết bằng công nghệ.</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3158"/>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10332720" cy="2926080"/>
          </a:xfrm>
          <a:prstGeom prst="rect">
            <a:avLst/>
          </a:prstGeom>
          <a:noFill/>
        </p:spPr>
        <p:txBody>
          <a:bodyPr wrap="square">
            <a:spAutoFit/>
          </a:bodyPr>
          <a:lstStyle/>
          <a:p>
            <a:pPr algn="l">
              <a:spcAft>
                <a:spcPts val="1000"/>
              </a:spcAft>
            </a:pPr>
            <a:r>
              <a:rPr sz="1300" b="1">
                <a:solidFill>
                  <a:srgbClr val="8FC7E8"/>
                </a:solidFill>
                <a:latin typeface="Segoe UI"/>
              </a:rPr>
              <a:t>CỔNG DỊCH VỤ CÔNG · TRỢ LÝ AI</a:t>
            </a:r>
          </a:p>
          <a:p>
            <a:pPr algn="l">
              <a:spcAft>
                <a:spcPts val="1000"/>
              </a:spcAft>
            </a:pPr>
            <a:r>
              <a:rPr sz="6000" b="1">
                <a:solidFill>
                  <a:srgbClr val="FFFFFF"/>
                </a:solidFill>
                <a:latin typeface="Segoe UI"/>
              </a:rPr>
              <a:t>UBNDAI</a:t>
            </a:r>
          </a:p>
          <a:p>
            <a:pPr algn="l">
              <a:spcAft>
                <a:spcPts val="1000"/>
              </a:spcAft>
            </a:pPr>
            <a:r>
              <a:rPr sz="2200" b="0">
                <a:solidFill>
                  <a:srgbClr val="D5E6F2"/>
                </a:solidFill>
                <a:latin typeface="Segoe UI"/>
              </a:rPr>
              <a:t>Hồ sơ hành chính đúng ngay từ lần nộp đầu tiên.</a:t>
            </a:r>
          </a:p>
        </p:txBody>
      </p:sp>
      <p:sp>
        <p:nvSpPr>
          <p:cNvPr id="4" name="TextBox 3"/>
          <p:cNvSpPr txBox="1"/>
          <p:nvPr/>
        </p:nvSpPr>
        <p:spPr>
          <a:xfrm>
            <a:off x="914400" y="4983480"/>
            <a:ext cx="10332720" cy="914400"/>
          </a:xfrm>
          <a:prstGeom prst="rect">
            <a:avLst/>
          </a:prstGeom>
          <a:noFill/>
        </p:spPr>
        <p:txBody>
          <a:bodyPr wrap="square">
            <a:spAutoFit/>
          </a:bodyPr>
          <a:lstStyle/>
          <a:p>
            <a:pPr algn="l">
              <a:spcAft>
                <a:spcPts val="600"/>
              </a:spcAft>
            </a:pPr>
            <a:r>
              <a:rPr sz="1400" b="0">
                <a:solidFill>
                  <a:srgbClr val="A9CBE3"/>
                </a:solidFill>
                <a:latin typeface="Segoe UI"/>
              </a:rPr>
              <a:t>Chúng tôi giúp NGƯỜI DÂN nộp đúng hồ sơ ngay lần đầu bằng TRỢ LÝ AI TIỀN KIỂM DỰA TRÊN NGUỒN PHÁP LÝ CHÍNH THỨC, thay vì ĐI LẠI NHIỀU LẦN VÌ THIẾU GIẤY TỜ.</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MỞ ĐẦU</a:t>
            </a:r>
          </a:p>
          <a:p>
            <a:pPr algn="l">
              <a:spcAft>
                <a:spcPts val="300"/>
              </a:spcAft>
            </a:pPr>
            <a:r>
              <a:rPr sz="3300" b="1">
                <a:solidFill>
                  <a:srgbClr val="0D3158"/>
                </a:solidFill>
                <a:latin typeface="Segoe UI"/>
              </a:rPr>
              <a:t>Người dân không sợ thủ tục.
Họ sợ phải quay lại lần thứ ba.</a:t>
            </a:r>
          </a:p>
        </p:txBody>
      </p:sp>
      <p:sp>
        <p:nvSpPr>
          <p:cNvPr id="3" name="Rectangle 2"/>
          <p:cNvSpPr/>
          <p:nvPr/>
        </p:nvSpPr>
        <p:spPr>
          <a:xfrm>
            <a:off x="685800" y="2377440"/>
            <a:ext cx="347472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2377440"/>
            <a:ext cx="50292" cy="141732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523744"/>
            <a:ext cx="3063239" cy="1143000"/>
          </a:xfrm>
          <a:prstGeom prst="rect">
            <a:avLst/>
          </a:prstGeom>
          <a:noFill/>
        </p:spPr>
        <p:txBody>
          <a:bodyPr wrap="square">
            <a:spAutoFit/>
          </a:bodyPr>
          <a:lstStyle/>
          <a:p>
            <a:pPr algn="l">
              <a:spcAft>
                <a:spcPts val="400"/>
              </a:spcAft>
            </a:pPr>
            <a:r>
              <a:rPr sz="1500" b="1">
                <a:solidFill>
                  <a:srgbClr val="0D3158"/>
                </a:solidFill>
                <a:latin typeface="Segoe UI"/>
              </a:rPr>
              <a:t>Nộp hồ sơ</a:t>
            </a:r>
          </a:p>
          <a:p>
            <a:pPr algn="l">
              <a:spcAft>
                <a:spcPts val="400"/>
              </a:spcAft>
            </a:pPr>
            <a:r>
              <a:rPr sz="1200" b="0">
                <a:solidFill>
                  <a:srgbClr val="5B7085"/>
                </a:solidFill>
                <a:latin typeface="Segoe UI"/>
              </a:rPr>
              <a:t>Xếp hàng, nộp, chờ.</a:t>
            </a:r>
          </a:p>
        </p:txBody>
      </p:sp>
      <p:sp>
        <p:nvSpPr>
          <p:cNvPr id="6" name="Rectangle 5"/>
          <p:cNvSpPr/>
          <p:nvPr/>
        </p:nvSpPr>
        <p:spPr>
          <a:xfrm>
            <a:off x="4389120" y="2377440"/>
            <a:ext cx="347472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89120" y="2377440"/>
            <a:ext cx="50292" cy="1417320"/>
          </a:xfrm>
          <a:prstGeom prst="rect">
            <a:avLst/>
          </a:prstGeom>
          <a:solidFill>
            <a:srgbClr val="C2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2523744"/>
            <a:ext cx="3063239" cy="1143000"/>
          </a:xfrm>
          <a:prstGeom prst="rect">
            <a:avLst/>
          </a:prstGeom>
          <a:noFill/>
        </p:spPr>
        <p:txBody>
          <a:bodyPr wrap="square">
            <a:spAutoFit/>
          </a:bodyPr>
          <a:lstStyle/>
          <a:p>
            <a:pPr algn="l">
              <a:spcAft>
                <a:spcPts val="400"/>
              </a:spcAft>
            </a:pPr>
            <a:r>
              <a:rPr sz="1500" b="1">
                <a:solidFill>
                  <a:srgbClr val="0D3158"/>
                </a:solidFill>
                <a:latin typeface="Segoe UI"/>
              </a:rPr>
              <a:t>Bị trả lại</a:t>
            </a:r>
          </a:p>
          <a:p>
            <a:pPr algn="l">
              <a:spcAft>
                <a:spcPts val="400"/>
              </a:spcAft>
            </a:pPr>
            <a:r>
              <a:rPr sz="1200" b="0">
                <a:solidFill>
                  <a:srgbClr val="5B7085"/>
                </a:solidFill>
                <a:latin typeface="Segoe UI"/>
              </a:rPr>
              <a:t>Thiếu một tờ giấy. Sai một ô. Không ai nói trước.</a:t>
            </a:r>
          </a:p>
        </p:txBody>
      </p:sp>
      <p:sp>
        <p:nvSpPr>
          <p:cNvPr id="9" name="Rectangle 8"/>
          <p:cNvSpPr/>
          <p:nvPr/>
        </p:nvSpPr>
        <p:spPr>
          <a:xfrm>
            <a:off x="8092440" y="2377440"/>
            <a:ext cx="347472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92440" y="2377440"/>
            <a:ext cx="50292" cy="141732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2523744"/>
            <a:ext cx="3063239" cy="1143000"/>
          </a:xfrm>
          <a:prstGeom prst="rect">
            <a:avLst/>
          </a:prstGeom>
          <a:noFill/>
        </p:spPr>
        <p:txBody>
          <a:bodyPr wrap="square">
            <a:spAutoFit/>
          </a:bodyPr>
          <a:lstStyle/>
          <a:p>
            <a:pPr algn="l">
              <a:spcAft>
                <a:spcPts val="400"/>
              </a:spcAft>
            </a:pPr>
            <a:r>
              <a:rPr sz="1500" b="1">
                <a:solidFill>
                  <a:srgbClr val="0D3158"/>
                </a:solidFill>
                <a:latin typeface="Segoe UI"/>
              </a:rPr>
              <a:t>Quay lại từ đầu</a:t>
            </a:r>
          </a:p>
          <a:p>
            <a:pPr algn="l">
              <a:spcAft>
                <a:spcPts val="400"/>
              </a:spcAft>
            </a:pPr>
            <a:r>
              <a:rPr sz="1200" b="0">
                <a:solidFill>
                  <a:srgbClr val="5B7085"/>
                </a:solidFill>
                <a:latin typeface="Segoe UI"/>
              </a:rPr>
              <a:t>Nghỉ làm thêm một buổi. Lặp lại vòng lặp.</a:t>
            </a:r>
          </a:p>
        </p:txBody>
      </p:sp>
      <p:sp>
        <p:nvSpPr>
          <p:cNvPr id="12" name="Rectangle 11"/>
          <p:cNvSpPr/>
          <p:nvPr/>
        </p:nvSpPr>
        <p:spPr>
          <a:xfrm>
            <a:off x="685800" y="4114800"/>
            <a:ext cx="10789920" cy="1051560"/>
          </a:xfrm>
          <a:prstGeom prst="rect">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 y="4114800"/>
            <a:ext cx="50292" cy="1051560"/>
          </a:xfrm>
          <a:prstGeom prst="rect">
            <a:avLst/>
          </a:prstGeom>
          <a:solidFill>
            <a:srgbClr val="C2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242816"/>
            <a:ext cx="10378440" cy="795527"/>
          </a:xfrm>
          <a:prstGeom prst="rect">
            <a:avLst/>
          </a:prstGeom>
          <a:noFill/>
        </p:spPr>
        <p:txBody>
          <a:bodyPr wrap="square">
            <a:spAutoFit/>
          </a:bodyPr>
          <a:lstStyle/>
          <a:p>
            <a:pPr algn="l">
              <a:spcAft>
                <a:spcPts val="400"/>
              </a:spcAft>
            </a:pPr>
            <a:r>
              <a:rPr sz="1000" b="1">
                <a:solidFill>
                  <a:srgbClr val="C25A1E"/>
                </a:solidFill>
                <a:latin typeface="Segoe UI"/>
              </a:rPr>
              <a:t>⚠ CẦN SỐ LIỆU THẬT</a:t>
            </a:r>
          </a:p>
          <a:p>
            <a:pPr algn="l">
              <a:spcAft>
                <a:spcPts val="400"/>
              </a:spcAft>
            </a:pPr>
            <a:r>
              <a:rPr sz="1200" b="0">
                <a:solidFill>
                  <a:srgbClr val="1B2A3D"/>
                </a:solidFill>
                <a:latin typeface="Segoe UI"/>
              </a:rPr>
              <a:t>Một con số mở đầu, kèm nguồn: tỷ lệ hồ sơ bị trả lại / số lượt đi lại trung bình cho một thủ tục ở xã. Không có số thật thì kể một câu chuyện có thật thay thế.</a:t>
            </a:r>
          </a:p>
        </p:txBody>
      </p:sp>
      <p:sp>
        <p:nvSpPr>
          <p:cNvPr id="15" name="TextBox 14"/>
          <p:cNvSpPr txBox="1"/>
          <p:nvPr/>
        </p:nvSpPr>
        <p:spPr>
          <a:xfrm>
            <a:off x="685800" y="5349240"/>
            <a:ext cx="10789920" cy="640080"/>
          </a:xfrm>
          <a:prstGeom prst="rect">
            <a:avLst/>
          </a:prstGeom>
          <a:noFill/>
        </p:spPr>
        <p:txBody>
          <a:bodyPr wrap="square">
            <a:spAutoFit/>
          </a:bodyPr>
          <a:lstStyle/>
          <a:p>
            <a:pPr algn="l">
              <a:spcAft>
                <a:spcPts val="600"/>
              </a:spcAft>
            </a:pPr>
            <a:r>
              <a:rPr sz="1500" b="1">
                <a:solidFill>
                  <a:srgbClr val="0D3158"/>
                </a:solidFill>
                <a:latin typeface="Segoe UI"/>
              </a:rPr>
              <a:t>Nỗi đau không nằm ở việc điền form. Nó nằm ở chỗ không ai kiểm tra giúp bạn trước khi quá muộn.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KHÁCH HÀNG</a:t>
            </a:r>
          </a:p>
          <a:p>
            <a:pPr algn="l">
              <a:spcAft>
                <a:spcPts val="300"/>
              </a:spcAft>
            </a:pPr>
            <a:r>
              <a:rPr sz="3300" b="1">
                <a:solidFill>
                  <a:srgbClr val="0D3158"/>
                </a:solidFill>
                <a:latin typeface="Segoe UI"/>
              </a:rPr>
              <a:t>Ba nhóm, một vòng lặp chung</a:t>
            </a:r>
          </a:p>
        </p:txBody>
      </p:sp>
      <p:sp>
        <p:nvSpPr>
          <p:cNvPr id="3" name="Rectangle 2"/>
          <p:cNvSpPr/>
          <p:nvPr/>
        </p:nvSpPr>
        <p:spPr>
          <a:xfrm>
            <a:off x="685800" y="1363210"/>
            <a:ext cx="10789920"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1363210"/>
            <a:ext cx="50292" cy="1170432"/>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09514"/>
            <a:ext cx="10378440" cy="896112"/>
          </a:xfrm>
          <a:prstGeom prst="rect">
            <a:avLst/>
          </a:prstGeom>
          <a:noFill/>
        </p:spPr>
        <p:txBody>
          <a:bodyPr wrap="square">
            <a:spAutoFit/>
          </a:bodyPr>
          <a:lstStyle/>
          <a:p>
            <a:pPr algn="l">
              <a:spcAft>
                <a:spcPts val="400"/>
              </a:spcAft>
            </a:pPr>
            <a:r>
              <a:rPr sz="1500" b="1">
                <a:solidFill>
                  <a:srgbClr val="0D3158"/>
                </a:solidFill>
                <a:latin typeface="Segoe UI"/>
              </a:rPr>
              <a:t>Người dân</a:t>
            </a:r>
          </a:p>
          <a:p>
            <a:pPr algn="l">
              <a:spcAft>
                <a:spcPts val="400"/>
              </a:spcAft>
            </a:pPr>
            <a:r>
              <a:rPr sz="1200" b="0">
                <a:solidFill>
                  <a:srgbClr val="5B7085"/>
                </a:solidFill>
                <a:latin typeface="Segoe UI"/>
              </a:rPr>
              <a:t>Làm khai sinh, kết hôn, tạm trú, căn cước, giấy phép xây dựng. Không rành thuật ngữ pháp lý, không biết mình thiếu gì.</a:t>
            </a:r>
          </a:p>
        </p:txBody>
      </p:sp>
      <p:sp>
        <p:nvSpPr>
          <p:cNvPr id="6" name="Rectangle 5"/>
          <p:cNvSpPr/>
          <p:nvPr/>
        </p:nvSpPr>
        <p:spPr>
          <a:xfrm>
            <a:off x="685800" y="2689090"/>
            <a:ext cx="10789920"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2689090"/>
            <a:ext cx="50292" cy="1170432"/>
          </a:xfrm>
          <a:prstGeom prst="rect">
            <a:avLst/>
          </a:prstGeom>
          <a:solidFill>
            <a:srgbClr val="16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835394"/>
            <a:ext cx="10378440" cy="896112"/>
          </a:xfrm>
          <a:prstGeom prst="rect">
            <a:avLst/>
          </a:prstGeom>
          <a:noFill/>
        </p:spPr>
        <p:txBody>
          <a:bodyPr wrap="square">
            <a:spAutoFit/>
          </a:bodyPr>
          <a:lstStyle/>
          <a:p>
            <a:pPr algn="l">
              <a:spcAft>
                <a:spcPts val="400"/>
              </a:spcAft>
            </a:pPr>
            <a:r>
              <a:rPr sz="1500" b="1">
                <a:solidFill>
                  <a:srgbClr val="0D3158"/>
                </a:solidFill>
                <a:latin typeface="Segoe UI"/>
              </a:rPr>
              <a:t>Cán bộ tiếp nhận (UBND cấp xã)</a:t>
            </a:r>
          </a:p>
          <a:p>
            <a:pPr algn="l">
              <a:spcAft>
                <a:spcPts val="400"/>
              </a:spcAft>
            </a:pPr>
            <a:r>
              <a:rPr sz="1200" b="0">
                <a:solidFill>
                  <a:srgbClr val="5B7085"/>
                </a:solidFill>
                <a:latin typeface="Segoe UI"/>
              </a:rPr>
              <a:t>Mỗi hồ sơ sai là một lần giải thích lại, một lần nhập lại. Thời gian dồn vào việc lẽ ra máy làm được.</a:t>
            </a:r>
          </a:p>
        </p:txBody>
      </p:sp>
      <p:sp>
        <p:nvSpPr>
          <p:cNvPr id="9" name="Rectangle 8"/>
          <p:cNvSpPr/>
          <p:nvPr/>
        </p:nvSpPr>
        <p:spPr>
          <a:xfrm>
            <a:off x="685800" y="4014970"/>
            <a:ext cx="10789920"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4014970"/>
            <a:ext cx="50292" cy="1170432"/>
          </a:xfrm>
          <a:prstGeom prst="rect">
            <a:avLst/>
          </a:prstGeom>
          <a:solidFill>
            <a:srgbClr val="0D31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161274"/>
            <a:ext cx="10378440" cy="896112"/>
          </a:xfrm>
          <a:prstGeom prst="rect">
            <a:avLst/>
          </a:prstGeom>
          <a:noFill/>
        </p:spPr>
        <p:txBody>
          <a:bodyPr wrap="square">
            <a:spAutoFit/>
          </a:bodyPr>
          <a:lstStyle/>
          <a:p>
            <a:pPr algn="l">
              <a:spcAft>
                <a:spcPts val="400"/>
              </a:spcAft>
            </a:pPr>
            <a:r>
              <a:rPr sz="1500" b="1">
                <a:solidFill>
                  <a:srgbClr val="0D3158"/>
                </a:solidFill>
                <a:latin typeface="Segoe UI"/>
              </a:rPr>
              <a:t>Cơ quan quản lý</a:t>
            </a:r>
          </a:p>
          <a:p>
            <a:pPr algn="l">
              <a:spcAft>
                <a:spcPts val="400"/>
              </a:spcAft>
            </a:pPr>
            <a:r>
              <a:rPr sz="1200" b="0">
                <a:solidFill>
                  <a:srgbClr val="5B7085"/>
                </a:solidFill>
                <a:latin typeface="Segoe UI"/>
              </a:rPr>
              <a:t>Cần biết hồ sơ hay sai ở đâu, thủ tục nào nghẽn — hiện gần như không có dữ liệu.</a:t>
            </a:r>
          </a:p>
        </p:txBody>
      </p:sp>
      <p:sp>
        <p:nvSpPr>
          <p:cNvPr id="12" name="Rectangle 11"/>
          <p:cNvSpPr/>
          <p:nvPr/>
        </p:nvSpPr>
        <p:spPr>
          <a:xfrm>
            <a:off x="685800" y="5532120"/>
            <a:ext cx="10789920" cy="777240"/>
          </a:xfrm>
          <a:prstGeom prst="rect">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 y="5532120"/>
            <a:ext cx="50292" cy="777240"/>
          </a:xfrm>
          <a:prstGeom prst="rect">
            <a:avLst/>
          </a:prstGeom>
          <a:solidFill>
            <a:srgbClr val="C2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660136"/>
            <a:ext cx="10378440" cy="521207"/>
          </a:xfrm>
          <a:prstGeom prst="rect">
            <a:avLst/>
          </a:prstGeom>
          <a:noFill/>
        </p:spPr>
        <p:txBody>
          <a:bodyPr wrap="square">
            <a:spAutoFit/>
          </a:bodyPr>
          <a:lstStyle/>
          <a:p>
            <a:pPr algn="l">
              <a:spcAft>
                <a:spcPts val="400"/>
              </a:spcAft>
            </a:pPr>
            <a:r>
              <a:rPr sz="1000" b="1">
                <a:solidFill>
                  <a:srgbClr val="C25A1E"/>
                </a:solidFill>
                <a:latin typeface="Segoe UI"/>
              </a:rPr>
              <a:t>⚠ CẦN SỐ LIỆU THẬT</a:t>
            </a:r>
          </a:p>
          <a:p>
            <a:pPr algn="l">
              <a:spcAft>
                <a:spcPts val="400"/>
              </a:spcAft>
            </a:pPr>
            <a:r>
              <a:rPr sz="1200" b="0">
                <a:solidFill>
                  <a:srgbClr val="1B2A3D"/>
                </a:solidFill>
                <a:latin typeface="Segoe UI"/>
              </a:rPr>
              <a:t>Đã phỏng vấn/khảo sát bao nhiêu người dân và cán bộ? Ở xã/phường nào? Đây là câu BA Judge hỏi thẳng ở checkpoint 36h.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GIẢI PHÁP</a:t>
            </a:r>
          </a:p>
          <a:p>
            <a:pPr algn="l">
              <a:spcAft>
                <a:spcPts val="300"/>
              </a:spcAft>
            </a:pPr>
            <a:r>
              <a:rPr sz="3300" b="1">
                <a:solidFill>
                  <a:srgbClr val="0D3158"/>
                </a:solidFill>
                <a:latin typeface="Segoe UI"/>
              </a:rPr>
              <a:t>Chuyển việc kiểm tra hồ sơ
ra TRƯỚC khi nộp</a:t>
            </a:r>
          </a:p>
        </p:txBody>
      </p:sp>
      <p:sp>
        <p:nvSpPr>
          <p:cNvPr id="3" name="TextBox 2"/>
          <p:cNvSpPr txBox="1"/>
          <p:nvPr/>
        </p:nvSpPr>
        <p:spPr>
          <a:xfrm>
            <a:off x="685800" y="2148840"/>
            <a:ext cx="10789920" cy="548640"/>
          </a:xfrm>
          <a:prstGeom prst="rect">
            <a:avLst/>
          </a:prstGeom>
          <a:noFill/>
        </p:spPr>
        <p:txBody>
          <a:bodyPr wrap="square">
            <a:spAutoFit/>
          </a:bodyPr>
          <a:lstStyle/>
          <a:p>
            <a:pPr algn="l">
              <a:spcAft>
                <a:spcPts val="600"/>
              </a:spcAft>
            </a:pPr>
            <a:r>
              <a:rPr sz="1500" b="1">
                <a:solidFill>
                  <a:srgbClr val="0D3158"/>
                </a:solidFill>
                <a:latin typeface="Segoe UI"/>
              </a:rPr>
              <a:t>Không phải chatbot trả lời thủ tục. Là lớp tiền kiểm đứng giữa người dân và quầy tiếp nhận.</a:t>
            </a:r>
          </a:p>
        </p:txBody>
      </p:sp>
      <p:sp>
        <p:nvSpPr>
          <p:cNvPr id="4" name="Rectangle 3"/>
          <p:cNvSpPr/>
          <p:nvPr/>
        </p:nvSpPr>
        <p:spPr>
          <a:xfrm>
            <a:off x="685800" y="2880360"/>
            <a:ext cx="3474720" cy="1965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2880360"/>
            <a:ext cx="50292" cy="196596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026664"/>
            <a:ext cx="3063239" cy="1691639"/>
          </a:xfrm>
          <a:prstGeom prst="rect">
            <a:avLst/>
          </a:prstGeom>
          <a:noFill/>
        </p:spPr>
        <p:txBody>
          <a:bodyPr wrap="square">
            <a:spAutoFit/>
          </a:bodyPr>
          <a:lstStyle/>
          <a:p>
            <a:pPr algn="l">
              <a:spcAft>
                <a:spcPts val="400"/>
              </a:spcAft>
            </a:pPr>
            <a:r>
              <a:rPr sz="1500" b="1">
                <a:solidFill>
                  <a:srgbClr val="0D3158"/>
                </a:solidFill>
                <a:latin typeface="Segoe UI"/>
              </a:rPr>
              <a:t>1 · Hỏi bằng lời thường</a:t>
            </a:r>
          </a:p>
          <a:p>
            <a:pPr algn="l">
              <a:spcAft>
                <a:spcPts val="400"/>
              </a:spcAft>
            </a:pPr>
            <a:r>
              <a:rPr sz="1200" b="0">
                <a:solidFill>
                  <a:srgbClr val="5B7085"/>
                </a:solidFill>
                <a:latin typeface="Segoe UI"/>
              </a:rPr>
              <a:t>Người dân mô tả việc mình cần. Hệ thống nhận diện đúng thủ tục và hỏi lại đúng vài câu để cá nhân hoá checklist.</a:t>
            </a:r>
          </a:p>
        </p:txBody>
      </p:sp>
      <p:sp>
        <p:nvSpPr>
          <p:cNvPr id="7" name="Rectangle 6"/>
          <p:cNvSpPr/>
          <p:nvPr/>
        </p:nvSpPr>
        <p:spPr>
          <a:xfrm>
            <a:off x="4389120" y="2880360"/>
            <a:ext cx="3474720" cy="1965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0" y="2880360"/>
            <a:ext cx="50292" cy="196596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3026664"/>
            <a:ext cx="3063239" cy="1691639"/>
          </a:xfrm>
          <a:prstGeom prst="rect">
            <a:avLst/>
          </a:prstGeom>
          <a:noFill/>
        </p:spPr>
        <p:txBody>
          <a:bodyPr wrap="square">
            <a:spAutoFit/>
          </a:bodyPr>
          <a:lstStyle/>
          <a:p>
            <a:pPr algn="l">
              <a:spcAft>
                <a:spcPts val="400"/>
              </a:spcAft>
            </a:pPr>
            <a:r>
              <a:rPr sz="1500" b="1">
                <a:solidFill>
                  <a:srgbClr val="0D3158"/>
                </a:solidFill>
                <a:latin typeface="Segoe UI"/>
              </a:rPr>
              <a:t>2 · Tự đọc giấy tờ</a:t>
            </a:r>
          </a:p>
          <a:p>
            <a:pPr algn="l">
              <a:spcAft>
                <a:spcPts val="400"/>
              </a:spcAft>
            </a:pPr>
            <a:r>
              <a:rPr sz="1200" b="0">
                <a:solidFill>
                  <a:srgbClr val="5B7085"/>
                </a:solidFill>
                <a:latin typeface="Segoe UI"/>
              </a:rPr>
              <a:t>Chụp ảnh giấy tờ, AI bóc dữ liệu và điền vào tờ khai. Trường nào độ tin cậy thấp thì đánh dấu để người kiểm.</a:t>
            </a:r>
          </a:p>
        </p:txBody>
      </p:sp>
      <p:sp>
        <p:nvSpPr>
          <p:cNvPr id="10" name="Rectangle 9"/>
          <p:cNvSpPr/>
          <p:nvPr/>
        </p:nvSpPr>
        <p:spPr>
          <a:xfrm>
            <a:off x="8092440" y="2880360"/>
            <a:ext cx="3474720" cy="1965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92440" y="2880360"/>
            <a:ext cx="50292" cy="196596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1040" y="3026664"/>
            <a:ext cx="3063239" cy="1691639"/>
          </a:xfrm>
          <a:prstGeom prst="rect">
            <a:avLst/>
          </a:prstGeom>
          <a:noFill/>
        </p:spPr>
        <p:txBody>
          <a:bodyPr wrap="square">
            <a:spAutoFit/>
          </a:bodyPr>
          <a:lstStyle/>
          <a:p>
            <a:pPr algn="l">
              <a:spcAft>
                <a:spcPts val="400"/>
              </a:spcAft>
            </a:pPr>
            <a:r>
              <a:rPr sz="1500" b="1">
                <a:solidFill>
                  <a:srgbClr val="0D3158"/>
                </a:solidFill>
                <a:latin typeface="Segoe UI"/>
              </a:rPr>
              <a:t>3 · Kiểm trước khi nộp</a:t>
            </a:r>
          </a:p>
          <a:p>
            <a:pPr algn="l">
              <a:spcAft>
                <a:spcPts val="400"/>
              </a:spcAft>
            </a:pPr>
            <a:r>
              <a:rPr sz="1200" b="0">
                <a:solidFill>
                  <a:srgbClr val="5B7085"/>
                </a:solidFill>
                <a:latin typeface="Segoe UI"/>
              </a:rPr>
              <a:t>Bộ quy tắc nghiệp vụ soát hồ sơ và chỉ ra chỗ sai — trước khi người dân rời khỏi nhà.</a:t>
            </a:r>
          </a:p>
        </p:txBody>
      </p:sp>
      <p:sp>
        <p:nvSpPr>
          <p:cNvPr id="13" name="TextBox 12"/>
          <p:cNvSpPr txBox="1"/>
          <p:nvPr/>
        </p:nvSpPr>
        <p:spPr>
          <a:xfrm>
            <a:off x="685800" y="5120640"/>
            <a:ext cx="10789920" cy="1097280"/>
          </a:xfrm>
          <a:prstGeom prst="rect">
            <a:avLst/>
          </a:prstGeom>
          <a:noFill/>
        </p:spPr>
        <p:txBody>
          <a:bodyPr wrap="square">
            <a:spAutoFit/>
          </a:bodyPr>
          <a:lstStyle/>
          <a:p>
            <a:pPr algn="l">
              <a:spcAft>
                <a:spcPts val="600"/>
              </a:spcAft>
            </a:pPr>
            <a:r>
              <a:rPr sz="1500" b="1">
                <a:solidFill>
                  <a:srgbClr val="167C78"/>
                </a:solidFill>
                <a:latin typeface="Segoe UI"/>
              </a:rPr>
              <a:t>Kết quả: bớt một vòng đi lại. Cán bộ nhận hồ sơ đã sạch. Cơ quan có dữ liệu về chỗ hay sai.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DEMO</a:t>
            </a:r>
          </a:p>
          <a:p>
            <a:pPr algn="l">
              <a:spcAft>
                <a:spcPts val="300"/>
              </a:spcAft>
            </a:pPr>
            <a:r>
              <a:rPr sz="3300" b="1">
                <a:solidFill>
                  <a:srgbClr val="0D3158"/>
                </a:solidFill>
                <a:latin typeface="Segoe UI"/>
              </a:rPr>
              <a:t>Chị Lan, 34 tuổi, cần làm khai sinh cho con</a:t>
            </a:r>
          </a:p>
          <a:p>
            <a:pPr algn="l">
              <a:spcAft>
                <a:spcPts val="300"/>
              </a:spcAft>
            </a:pPr>
            <a:r>
              <a:rPr sz="1400" b="0">
                <a:solidFill>
                  <a:srgbClr val="5B7085"/>
                </a:solidFill>
                <a:latin typeface="Segoe UI"/>
              </a:rPr>
              <a:t>Demo là câu chuyện — không phải đi qua từng nút bấm.</a:t>
            </a:r>
          </a:p>
        </p:txBody>
      </p:sp>
      <p:sp>
        <p:nvSpPr>
          <p:cNvPr id="3" name="Rectangle 2"/>
          <p:cNvSpPr/>
          <p:nvPr/>
        </p:nvSpPr>
        <p:spPr>
          <a:xfrm>
            <a:off x="685800" y="2514600"/>
            <a:ext cx="260604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2514600"/>
            <a:ext cx="50292" cy="2286000"/>
          </a:xfrm>
          <a:prstGeom prst="rect">
            <a:avLst/>
          </a:prstGeom>
          <a:solidFill>
            <a:srgbClr val="5B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660904"/>
            <a:ext cx="2194560" cy="2011680"/>
          </a:xfrm>
          <a:prstGeom prst="rect">
            <a:avLst/>
          </a:prstGeom>
          <a:noFill/>
        </p:spPr>
        <p:txBody>
          <a:bodyPr wrap="square">
            <a:spAutoFit/>
          </a:bodyPr>
          <a:lstStyle/>
          <a:p>
            <a:pPr algn="l">
              <a:spcAft>
                <a:spcPts val="400"/>
              </a:spcAft>
            </a:pPr>
            <a:r>
              <a:rPr sz="1400" b="1">
                <a:solidFill>
                  <a:srgbClr val="0D3158"/>
                </a:solidFill>
                <a:latin typeface="Segoe UI"/>
              </a:rPr>
              <a:t>1. Bối cảnh</a:t>
            </a:r>
          </a:p>
          <a:p>
            <a:pPr algn="l">
              <a:spcAft>
                <a:spcPts val="400"/>
              </a:spcAft>
            </a:pPr>
            <a:r>
              <a:rPr sz="1100" b="0">
                <a:solidFill>
                  <a:srgbClr val="5B7085"/>
                </a:solidFill>
                <a:latin typeface="Segoe UI"/>
              </a:rPr>
              <a:t>Chị nhắn: “tôi muốn đăng ký khai sinh cho con”. Không biết cần giấy gì, cũng không biết nộp ở đâu.</a:t>
            </a:r>
          </a:p>
        </p:txBody>
      </p:sp>
      <p:sp>
        <p:nvSpPr>
          <p:cNvPr id="6" name="Rectangle 5"/>
          <p:cNvSpPr/>
          <p:nvPr/>
        </p:nvSpPr>
        <p:spPr>
          <a:xfrm>
            <a:off x="3447288" y="2514600"/>
            <a:ext cx="260604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47288" y="2514600"/>
            <a:ext cx="50292" cy="228600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75887" y="2660904"/>
            <a:ext cx="2194560" cy="2011680"/>
          </a:xfrm>
          <a:prstGeom prst="rect">
            <a:avLst/>
          </a:prstGeom>
          <a:noFill/>
        </p:spPr>
        <p:txBody>
          <a:bodyPr wrap="square">
            <a:spAutoFit/>
          </a:bodyPr>
          <a:lstStyle/>
          <a:p>
            <a:pPr algn="l">
              <a:spcAft>
                <a:spcPts val="400"/>
              </a:spcAft>
            </a:pPr>
            <a:r>
              <a:rPr sz="1400" b="1">
                <a:solidFill>
                  <a:srgbClr val="0D3158"/>
                </a:solidFill>
                <a:latin typeface="Segoe UI"/>
              </a:rPr>
              <a:t>2. Can thiệp</a:t>
            </a:r>
          </a:p>
          <a:p>
            <a:pPr algn="l">
              <a:spcAft>
                <a:spcPts val="400"/>
              </a:spcAft>
            </a:pPr>
            <a:r>
              <a:rPr sz="1100" b="0">
                <a:solidFill>
                  <a:srgbClr val="5B7085"/>
                </a:solidFill>
                <a:latin typeface="Segoe UI"/>
              </a:rPr>
              <a:t>Trợ lý nhận đúng thủ tục, hỏi 2 câu (bé sinh ở cơ sở y tế? cha mẹ đã kết hôn?), rồi dựng checklist riêng cho trường hợp của chị.</a:t>
            </a:r>
          </a:p>
        </p:txBody>
      </p:sp>
      <p:sp>
        <p:nvSpPr>
          <p:cNvPr id="9" name="Rectangle 8"/>
          <p:cNvSpPr/>
          <p:nvPr/>
        </p:nvSpPr>
        <p:spPr>
          <a:xfrm>
            <a:off x="6208776" y="2514600"/>
            <a:ext cx="260604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08776" y="2514600"/>
            <a:ext cx="50292" cy="2286000"/>
          </a:xfrm>
          <a:prstGeom prst="rect">
            <a:avLst/>
          </a:prstGeom>
          <a:solidFill>
            <a:srgbClr val="C2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37376" y="2660904"/>
            <a:ext cx="2194560" cy="2011680"/>
          </a:xfrm>
          <a:prstGeom prst="rect">
            <a:avLst/>
          </a:prstGeom>
          <a:noFill/>
        </p:spPr>
        <p:txBody>
          <a:bodyPr wrap="square">
            <a:spAutoFit/>
          </a:bodyPr>
          <a:lstStyle/>
          <a:p>
            <a:pPr algn="l">
              <a:spcAft>
                <a:spcPts val="400"/>
              </a:spcAft>
            </a:pPr>
            <a:r>
              <a:rPr sz="1400" b="1">
                <a:solidFill>
                  <a:srgbClr val="0D3158"/>
                </a:solidFill>
                <a:latin typeface="Segoe UI"/>
              </a:rPr>
              <a:t>3. Khoảnh khắc Aha</a:t>
            </a:r>
          </a:p>
          <a:p>
            <a:pPr algn="l">
              <a:spcAft>
                <a:spcPts val="400"/>
              </a:spcAft>
            </a:pPr>
            <a:r>
              <a:rPr sz="1100" b="0">
                <a:solidFill>
                  <a:srgbClr val="5B7085"/>
                </a:solidFill>
                <a:latin typeface="Segoe UI"/>
              </a:rPr>
              <a:t>Chị chụp giấy chứng sinh. Tờ khai tự điền. Hệ thống báo ngay: “còn thiếu mục X” — trước khi chị ra khỏi nhà.</a:t>
            </a:r>
          </a:p>
        </p:txBody>
      </p:sp>
      <p:sp>
        <p:nvSpPr>
          <p:cNvPr id="12" name="Rectangle 11"/>
          <p:cNvSpPr/>
          <p:nvPr/>
        </p:nvSpPr>
        <p:spPr>
          <a:xfrm>
            <a:off x="8970264" y="2514600"/>
            <a:ext cx="260604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970264" y="2514600"/>
            <a:ext cx="50292" cy="2286000"/>
          </a:xfrm>
          <a:prstGeom prst="rect">
            <a:avLst/>
          </a:prstGeom>
          <a:solidFill>
            <a:srgbClr val="16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98864" y="2660904"/>
            <a:ext cx="2194560" cy="2011680"/>
          </a:xfrm>
          <a:prstGeom prst="rect">
            <a:avLst/>
          </a:prstGeom>
          <a:noFill/>
        </p:spPr>
        <p:txBody>
          <a:bodyPr wrap="square">
            <a:spAutoFit/>
          </a:bodyPr>
          <a:lstStyle/>
          <a:p>
            <a:pPr algn="l">
              <a:spcAft>
                <a:spcPts val="400"/>
              </a:spcAft>
            </a:pPr>
            <a:r>
              <a:rPr sz="1400" b="1">
                <a:solidFill>
                  <a:srgbClr val="0D3158"/>
                </a:solidFill>
                <a:latin typeface="Segoe UI"/>
              </a:rPr>
              <a:t>4. Lợi thế</a:t>
            </a:r>
          </a:p>
          <a:p>
            <a:pPr algn="l">
              <a:spcAft>
                <a:spcPts val="400"/>
              </a:spcAft>
            </a:pPr>
            <a:r>
              <a:rPr sz="1100" b="0">
                <a:solidFill>
                  <a:srgbClr val="5B7085"/>
                </a:solidFill>
                <a:latin typeface="Segoe UI"/>
              </a:rPr>
              <a:t>Mỗi câu trả lời đều kèm nguồn: mã thủ tục, cơ quan, biểu mẫu tải thẳng từ Cổng Dịch vụ công.</a:t>
            </a:r>
          </a:p>
        </p:txBody>
      </p:sp>
      <p:sp>
        <p:nvSpPr>
          <p:cNvPr id="15" name="TextBox 14"/>
          <p:cNvSpPr txBox="1"/>
          <p:nvPr/>
        </p:nvSpPr>
        <p:spPr>
          <a:xfrm>
            <a:off x="685800" y="5029200"/>
            <a:ext cx="10789920" cy="1005840"/>
          </a:xfrm>
          <a:prstGeom prst="rect">
            <a:avLst/>
          </a:prstGeom>
          <a:noFill/>
        </p:spPr>
        <p:txBody>
          <a:bodyPr wrap="square">
            <a:spAutoFit/>
          </a:bodyPr>
          <a:lstStyle/>
          <a:p>
            <a:pPr algn="l">
              <a:spcAft>
                <a:spcPts val="600"/>
              </a:spcAft>
            </a:pPr>
            <a:r>
              <a:rPr sz="1600" b="1">
                <a:solidFill>
                  <a:srgbClr val="0D3158"/>
                </a:solidFill>
                <a:latin typeface="Segoe UI"/>
              </a:rPr>
              <a:t>Chốt demo bằng một câu: “Chị Lan đi một lần, không đi ba lần.”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VÌ SAO CẦN AI</a:t>
            </a:r>
          </a:p>
          <a:p>
            <a:pPr algn="l">
              <a:spcAft>
                <a:spcPts val="300"/>
              </a:spcAft>
            </a:pPr>
            <a:r>
              <a:rPr sz="3300" b="1">
                <a:solidFill>
                  <a:srgbClr val="0D3158"/>
                </a:solidFill>
                <a:latin typeface="Segoe UI"/>
              </a:rPr>
              <a:t>AI là động cơ phía sau kết quả — không phải khẩu hiệu</a:t>
            </a:r>
          </a:p>
        </p:txBody>
      </p:sp>
      <p:sp>
        <p:nvSpPr>
          <p:cNvPr id="3" name="Rectangle 2"/>
          <p:cNvSpPr/>
          <p:nvPr/>
        </p:nvSpPr>
        <p:spPr>
          <a:xfrm>
            <a:off x="685800" y="1723937"/>
            <a:ext cx="10789920"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1732326"/>
            <a:ext cx="50292" cy="114300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70241"/>
            <a:ext cx="10378440" cy="868680"/>
          </a:xfrm>
          <a:prstGeom prst="rect">
            <a:avLst/>
          </a:prstGeom>
          <a:noFill/>
        </p:spPr>
        <p:txBody>
          <a:bodyPr wrap="square">
            <a:spAutoFit/>
          </a:bodyPr>
          <a:lstStyle/>
          <a:p>
            <a:pPr algn="l">
              <a:spcAft>
                <a:spcPts val="400"/>
              </a:spcAft>
            </a:pPr>
            <a:r>
              <a:rPr sz="1500" b="1">
                <a:solidFill>
                  <a:srgbClr val="0D3158"/>
                </a:solidFill>
                <a:latin typeface="Segoe UI"/>
              </a:rPr>
              <a:t>Hiểu ý định nói thường</a:t>
            </a:r>
          </a:p>
          <a:p>
            <a:pPr algn="l">
              <a:spcAft>
                <a:spcPts val="400"/>
              </a:spcAft>
            </a:pPr>
            <a:r>
              <a:rPr sz="1200" b="0">
                <a:solidFill>
                  <a:srgbClr val="5B7085"/>
                </a:solidFill>
                <a:latin typeface="Segoe UI"/>
              </a:rPr>
              <a:t>Người dân không tra cứu bằng mã thủ tục. Họ nói “làm giấy cho con mới đẻ”. Hệ thống phải tự khớp về đúng thủ tục trong danh mục.</a:t>
            </a:r>
          </a:p>
        </p:txBody>
      </p:sp>
      <p:sp>
        <p:nvSpPr>
          <p:cNvPr id="6" name="Rectangle 5"/>
          <p:cNvSpPr/>
          <p:nvPr/>
        </p:nvSpPr>
        <p:spPr>
          <a:xfrm>
            <a:off x="685800" y="3005607"/>
            <a:ext cx="10789920"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2988829"/>
            <a:ext cx="50292" cy="114300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168689"/>
            <a:ext cx="10378440" cy="868680"/>
          </a:xfrm>
          <a:prstGeom prst="rect">
            <a:avLst/>
          </a:prstGeom>
          <a:noFill/>
        </p:spPr>
        <p:txBody>
          <a:bodyPr wrap="square">
            <a:spAutoFit/>
          </a:bodyPr>
          <a:lstStyle/>
          <a:p>
            <a:pPr algn="l">
              <a:spcAft>
                <a:spcPts val="400"/>
              </a:spcAft>
            </a:pPr>
            <a:r>
              <a:rPr sz="1500" b="1">
                <a:solidFill>
                  <a:srgbClr val="0D3158"/>
                </a:solidFill>
                <a:latin typeface="Segoe UI"/>
              </a:rPr>
              <a:t>Đọc giấy tờ ảnh chụp</a:t>
            </a:r>
          </a:p>
          <a:p>
            <a:pPr algn="l">
              <a:spcAft>
                <a:spcPts val="400"/>
              </a:spcAft>
            </a:pPr>
            <a:r>
              <a:rPr sz="1200" b="0">
                <a:solidFill>
                  <a:srgbClr val="5B7085"/>
                </a:solidFill>
                <a:latin typeface="Segoe UI"/>
              </a:rPr>
              <a:t>Ảnh chụp bằng điện thoại, nghiêng, mờ. AI bóc trường dữ liệu và tự đánh dấu chỗ nó không chắc.</a:t>
            </a:r>
          </a:p>
        </p:txBody>
      </p:sp>
      <p:sp>
        <p:nvSpPr>
          <p:cNvPr id="9" name="Rectangle 8"/>
          <p:cNvSpPr/>
          <p:nvPr/>
        </p:nvSpPr>
        <p:spPr>
          <a:xfrm>
            <a:off x="685800" y="4320833"/>
            <a:ext cx="10789920"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4304055"/>
            <a:ext cx="50292" cy="114300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467137"/>
            <a:ext cx="10378440" cy="868680"/>
          </a:xfrm>
          <a:prstGeom prst="rect">
            <a:avLst/>
          </a:prstGeom>
          <a:noFill/>
        </p:spPr>
        <p:txBody>
          <a:bodyPr wrap="square">
            <a:spAutoFit/>
          </a:bodyPr>
          <a:lstStyle/>
          <a:p>
            <a:pPr algn="l">
              <a:spcAft>
                <a:spcPts val="400"/>
              </a:spcAft>
            </a:pPr>
            <a:r>
              <a:rPr sz="1500" b="1">
                <a:solidFill>
                  <a:srgbClr val="0D3158"/>
                </a:solidFill>
                <a:latin typeface="Segoe UI"/>
              </a:rPr>
              <a:t>Checklist theo trường hợp</a:t>
            </a:r>
          </a:p>
          <a:p>
            <a:pPr algn="l">
              <a:spcAft>
                <a:spcPts val="400"/>
              </a:spcAft>
            </a:pPr>
            <a:r>
              <a:rPr sz="1200" b="0">
                <a:solidFill>
                  <a:srgbClr val="5B7085"/>
                </a:solidFill>
                <a:latin typeface="Segoe UI"/>
              </a:rPr>
              <a:t>Cùng thủ tục giấy phép xây dựng: danh mục có 5 thành phần, nhưng tuỳ câu trả lời chỉ còn 3 — 4 — 5 mục thật sự phải chuẩn bị.</a:t>
            </a:r>
          </a:p>
        </p:txBody>
      </p:sp>
      <p:sp>
        <p:nvSpPr>
          <p:cNvPr id="12" name="Rectangle 11"/>
          <p:cNvSpPr/>
          <p:nvPr/>
        </p:nvSpPr>
        <p:spPr>
          <a:xfrm>
            <a:off x="685800" y="5486400"/>
            <a:ext cx="10789920" cy="868680"/>
          </a:xfrm>
          <a:prstGeom prst="rect">
            <a:avLst/>
          </a:prstGeom>
          <a:solidFill>
            <a:srgbClr val="E9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623560"/>
            <a:ext cx="10332720" cy="640080"/>
          </a:xfrm>
          <a:prstGeom prst="rect">
            <a:avLst/>
          </a:prstGeom>
          <a:noFill/>
        </p:spPr>
        <p:txBody>
          <a:bodyPr wrap="square">
            <a:spAutoFit/>
          </a:bodyPr>
          <a:lstStyle/>
          <a:p>
            <a:pPr algn="l">
              <a:spcAft>
                <a:spcPts val="600"/>
              </a:spcAft>
            </a:pPr>
            <a:r>
              <a:rPr sz="1300" b="1">
                <a:solidFill>
                  <a:srgbClr val="167C78"/>
                </a:solidFill>
                <a:latin typeface="Segoe UI"/>
              </a:rPr>
              <a:t>Ranh giới cố ý: AI chỉ được cảnh báo. Kết luận “hồ sơ sai” chỉ do bộ quy tắc nghiệp vụ đưa ra. Quyết định cuối cùng vẫn thuộc về cán bộ.</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BẰNG CHỨNG</a:t>
            </a:r>
          </a:p>
          <a:p>
            <a:pPr algn="l">
              <a:spcAft>
                <a:spcPts val="300"/>
              </a:spcAft>
            </a:pPr>
            <a:r>
              <a:rPr sz="3300" b="1">
                <a:solidFill>
                  <a:srgbClr val="0D3158"/>
                </a:solidFill>
                <a:latin typeface="Segoe UI"/>
              </a:rPr>
              <a:t>Những gì đã chạy được, kiểm chứng được</a:t>
            </a:r>
          </a:p>
        </p:txBody>
      </p:sp>
      <p:sp>
        <p:nvSpPr>
          <p:cNvPr id="3" name="Rectangle 2"/>
          <p:cNvSpPr/>
          <p:nvPr/>
        </p:nvSpPr>
        <p:spPr>
          <a:xfrm>
            <a:off x="685800" y="2286000"/>
            <a:ext cx="3474720" cy="2148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2286000"/>
            <a:ext cx="50292" cy="214884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432304"/>
            <a:ext cx="3063239" cy="1874520"/>
          </a:xfrm>
          <a:prstGeom prst="rect">
            <a:avLst/>
          </a:prstGeom>
          <a:noFill/>
        </p:spPr>
        <p:txBody>
          <a:bodyPr wrap="square">
            <a:spAutoFit/>
          </a:bodyPr>
          <a:lstStyle/>
          <a:p>
            <a:pPr algn="l">
              <a:spcAft>
                <a:spcPts val="400"/>
              </a:spcAft>
            </a:pPr>
            <a:r>
              <a:rPr sz="1500" b="1">
                <a:solidFill>
                  <a:srgbClr val="0D3158"/>
                </a:solidFill>
                <a:latin typeface="Segoe UI"/>
              </a:rPr>
              <a:t>Sản phẩm chạy thật</a:t>
            </a:r>
          </a:p>
          <a:p>
            <a:pPr algn="l">
              <a:spcAft>
                <a:spcPts val="400"/>
              </a:spcAft>
            </a:pPr>
            <a:r>
              <a:rPr sz="1150" b="0">
                <a:solidFill>
                  <a:srgbClr val="5B7085"/>
                </a:solidFill>
                <a:latin typeface="Segoe UI"/>
              </a:rPr>
              <a:t>Luồng đầy đủ người dân → cán bộ: hỏi đáp, sinh checklist, OCR điền tờ khai, kiểm tra, nộp, thẩm tra, ra quyết định.</a:t>
            </a:r>
          </a:p>
        </p:txBody>
      </p:sp>
      <p:sp>
        <p:nvSpPr>
          <p:cNvPr id="6" name="Rectangle 5"/>
          <p:cNvSpPr/>
          <p:nvPr/>
        </p:nvSpPr>
        <p:spPr>
          <a:xfrm>
            <a:off x="4389120" y="2286000"/>
            <a:ext cx="3474720" cy="2148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89120" y="2286000"/>
            <a:ext cx="50292" cy="214884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2432304"/>
            <a:ext cx="3063239" cy="1874520"/>
          </a:xfrm>
          <a:prstGeom prst="rect">
            <a:avLst/>
          </a:prstGeom>
          <a:noFill/>
        </p:spPr>
        <p:txBody>
          <a:bodyPr wrap="square">
            <a:spAutoFit/>
          </a:bodyPr>
          <a:lstStyle/>
          <a:p>
            <a:pPr algn="l">
              <a:spcAft>
                <a:spcPts val="400"/>
              </a:spcAft>
            </a:pPr>
            <a:r>
              <a:rPr sz="1500" b="1">
                <a:solidFill>
                  <a:srgbClr val="0D3158"/>
                </a:solidFill>
                <a:latin typeface="Segoe UI"/>
              </a:rPr>
              <a:t>Nguồn truy vết được</a:t>
            </a:r>
          </a:p>
          <a:p>
            <a:pPr algn="l">
              <a:spcAft>
                <a:spcPts val="400"/>
              </a:spcAft>
            </a:pPr>
            <a:r>
              <a:rPr sz="1150" b="0">
                <a:solidFill>
                  <a:srgbClr val="5B7085"/>
                </a:solidFill>
                <a:latin typeface="Segoe UI"/>
              </a:rPr>
              <a:t>5 thủ tục · 17 luật kiểm tra khai báo · 75 endpoint. Kiểm thử tự động bắt buộc mỗi trích dẫn mở đúng mã thủ tục quốc gia của chính nó.</a:t>
            </a:r>
          </a:p>
        </p:txBody>
      </p:sp>
      <p:sp>
        <p:nvSpPr>
          <p:cNvPr id="9" name="Rectangle 8"/>
          <p:cNvSpPr/>
          <p:nvPr/>
        </p:nvSpPr>
        <p:spPr>
          <a:xfrm>
            <a:off x="8092440" y="2286000"/>
            <a:ext cx="3474720" cy="2148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92440" y="2286000"/>
            <a:ext cx="50292" cy="214884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2432304"/>
            <a:ext cx="3063239" cy="1874520"/>
          </a:xfrm>
          <a:prstGeom prst="rect">
            <a:avLst/>
          </a:prstGeom>
          <a:noFill/>
        </p:spPr>
        <p:txBody>
          <a:bodyPr wrap="square">
            <a:spAutoFit/>
          </a:bodyPr>
          <a:lstStyle/>
          <a:p>
            <a:pPr algn="l">
              <a:spcAft>
                <a:spcPts val="400"/>
              </a:spcAft>
            </a:pPr>
            <a:r>
              <a:rPr sz="1500" b="1">
                <a:solidFill>
                  <a:srgbClr val="0D3158"/>
                </a:solidFill>
                <a:latin typeface="Segoe UI"/>
              </a:rPr>
              <a:t>Kỷ luật kỹ thuật</a:t>
            </a:r>
          </a:p>
          <a:p>
            <a:pPr algn="l">
              <a:spcAft>
                <a:spcPts val="400"/>
              </a:spcAft>
            </a:pPr>
            <a:r>
              <a:rPr sz="1150" b="0">
                <a:solidFill>
                  <a:srgbClr val="5B7085"/>
                </a:solidFill>
                <a:latin typeface="Segoe UI"/>
              </a:rPr>
              <a:t>335 bài kiểm thử, CI xanh. Cổng CI chặn merge khi hệ thống chốt nhầm thủ tục — ngưỡng cho phép: 0. Đo được, không phải lời hứa.</a:t>
            </a:r>
          </a:p>
        </p:txBody>
      </p:sp>
      <p:sp>
        <p:nvSpPr>
          <p:cNvPr id="12" name="Rectangle 11"/>
          <p:cNvSpPr/>
          <p:nvPr/>
        </p:nvSpPr>
        <p:spPr>
          <a:xfrm>
            <a:off x="685800" y="4709160"/>
            <a:ext cx="1078992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828032"/>
            <a:ext cx="10332720" cy="731520"/>
          </a:xfrm>
          <a:prstGeom prst="rect">
            <a:avLst/>
          </a:prstGeom>
          <a:noFill/>
        </p:spPr>
        <p:txBody>
          <a:bodyPr wrap="square">
            <a:spAutoFit/>
          </a:bodyPr>
          <a:lstStyle/>
          <a:p>
            <a:pPr algn="l">
              <a:spcAft>
                <a:spcPts val="600"/>
              </a:spcAft>
            </a:pPr>
            <a:r>
              <a:rPr sz="1300" b="1">
                <a:solidFill>
                  <a:srgbClr val="0D3158"/>
                </a:solidFill>
                <a:latin typeface="Segoe UI"/>
              </a:rPr>
              <a:t>Chốt nhầm thủ tục: 0/60 trên bộ đánh giá giữ riêng. Khi không chắc, hệ thống hỏi lại chứ không đoán — vì chốt nhầm thủ tục làm sai toàn bộ checklist phía sau.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AN TOÀN</a:t>
            </a:r>
          </a:p>
          <a:p>
            <a:pPr algn="l">
              <a:spcAft>
                <a:spcPts val="300"/>
              </a:spcAft>
            </a:pPr>
            <a:r>
              <a:rPr sz="3300" b="1">
                <a:solidFill>
                  <a:srgbClr val="0D3158"/>
                </a:solidFill>
                <a:latin typeface="Segoe UI"/>
              </a:rPr>
              <a:t>Không hứa an toàn. Đo nó.</a:t>
            </a:r>
          </a:p>
        </p:txBody>
      </p:sp>
      <p:sp>
        <p:nvSpPr>
          <p:cNvPr id="3" name="Rectangle 2"/>
          <p:cNvSpPr/>
          <p:nvPr/>
        </p:nvSpPr>
        <p:spPr>
          <a:xfrm>
            <a:off x="685800" y="1572935"/>
            <a:ext cx="10789920"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1572935"/>
            <a:ext cx="50292" cy="1143000"/>
          </a:xfrm>
          <a:prstGeom prst="rect">
            <a:avLst/>
          </a:prstGeom>
          <a:solidFill>
            <a:srgbClr val="16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19239"/>
            <a:ext cx="10378440" cy="868680"/>
          </a:xfrm>
          <a:prstGeom prst="rect">
            <a:avLst/>
          </a:prstGeom>
          <a:noFill/>
        </p:spPr>
        <p:txBody>
          <a:bodyPr wrap="square">
            <a:spAutoFit/>
          </a:bodyPr>
          <a:lstStyle/>
          <a:p>
            <a:pPr algn="l">
              <a:spcAft>
                <a:spcPts val="400"/>
              </a:spcAft>
            </a:pPr>
            <a:r>
              <a:rPr sz="1500" b="1">
                <a:solidFill>
                  <a:srgbClr val="0D3158"/>
                </a:solidFill>
                <a:latin typeface="Segoe UI"/>
              </a:rPr>
              <a:t>Chốt nhầm thủ tục: 0/60</a:t>
            </a:r>
          </a:p>
          <a:p>
            <a:pPr algn="l">
              <a:spcAft>
                <a:spcPts val="400"/>
              </a:spcAft>
            </a:pPr>
            <a:r>
              <a:rPr sz="1150" b="0">
                <a:solidFill>
                  <a:srgbClr val="5B7085"/>
                </a:solidFill>
                <a:latin typeface="Segoe UI"/>
              </a:rPr>
              <a:t>Trên bộ đánh giá giữ riêng — viết TRƯỚC khi tinh chỉnh và không dùng để tinh chỉnh. 10 ca không nhận ra đều lùi về hỏi lại, không ca nào đoán bừa.</a:t>
            </a:r>
          </a:p>
        </p:txBody>
      </p:sp>
      <p:sp>
        <p:nvSpPr>
          <p:cNvPr id="6" name="Rectangle 5"/>
          <p:cNvSpPr/>
          <p:nvPr/>
        </p:nvSpPr>
        <p:spPr>
          <a:xfrm>
            <a:off x="685800" y="2871383"/>
            <a:ext cx="10789920"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2871383"/>
            <a:ext cx="50292" cy="1143000"/>
          </a:xfrm>
          <a:prstGeom prst="rect">
            <a:avLst/>
          </a:prstGeom>
          <a:solidFill>
            <a:srgbClr val="16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017687"/>
            <a:ext cx="10378440" cy="868680"/>
          </a:xfrm>
          <a:prstGeom prst="rect">
            <a:avLst/>
          </a:prstGeom>
          <a:noFill/>
        </p:spPr>
        <p:txBody>
          <a:bodyPr wrap="square">
            <a:spAutoFit/>
          </a:bodyPr>
          <a:lstStyle/>
          <a:p>
            <a:pPr algn="l">
              <a:spcAft>
                <a:spcPts val="400"/>
              </a:spcAft>
            </a:pPr>
            <a:r>
              <a:rPr sz="1500" b="1">
                <a:solidFill>
                  <a:srgbClr val="0D3158"/>
                </a:solidFill>
                <a:latin typeface="Segoe UI"/>
              </a:rPr>
              <a:t>AI không thể kết luận “hồ sơ sai”</a:t>
            </a:r>
          </a:p>
          <a:p>
            <a:pPr algn="l">
              <a:spcAft>
                <a:spcPts val="400"/>
              </a:spcAft>
            </a:pPr>
            <a:r>
              <a:rPr sz="1150" b="0">
                <a:solidFill>
                  <a:srgbClr val="5B7085"/>
                </a:solidFill>
                <a:latin typeface="Segoe UI"/>
              </a:rPr>
              <a:t>Chặn ở tầng kiểu dữ liệu, không phải lời dặn trong prompt. Thử tạo cũng ném lỗi. Chỉ bộ quy tắc khai báo — thứ cán bộ đọc và ký duyệt được — mới có thẩm quyền đó.</a:t>
            </a:r>
          </a:p>
        </p:txBody>
      </p:sp>
      <p:sp>
        <p:nvSpPr>
          <p:cNvPr id="9" name="Rectangle 8"/>
          <p:cNvSpPr/>
          <p:nvPr/>
        </p:nvSpPr>
        <p:spPr>
          <a:xfrm>
            <a:off x="685800" y="4169831"/>
            <a:ext cx="10789920"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4169831"/>
            <a:ext cx="50292" cy="1143000"/>
          </a:xfrm>
          <a:prstGeom prst="rect">
            <a:avLst/>
          </a:prstGeom>
          <a:solidFill>
            <a:srgbClr val="16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316135"/>
            <a:ext cx="10378440" cy="868680"/>
          </a:xfrm>
          <a:prstGeom prst="rect">
            <a:avLst/>
          </a:prstGeom>
          <a:noFill/>
        </p:spPr>
        <p:txBody>
          <a:bodyPr wrap="square">
            <a:spAutoFit/>
          </a:bodyPr>
          <a:lstStyle/>
          <a:p>
            <a:pPr algn="l">
              <a:spcAft>
                <a:spcPts val="400"/>
              </a:spcAft>
            </a:pPr>
            <a:r>
              <a:rPr sz="1500" b="1" dirty="0" err="1">
                <a:solidFill>
                  <a:srgbClr val="0D3158"/>
                </a:solidFill>
                <a:latin typeface="Segoe UI"/>
              </a:rPr>
              <a:t>Bộ</a:t>
            </a:r>
            <a:r>
              <a:rPr sz="1500" b="1" dirty="0">
                <a:solidFill>
                  <a:srgbClr val="0D3158"/>
                </a:solidFill>
                <a:latin typeface="Segoe UI"/>
              </a:rPr>
              <a:t> </a:t>
            </a:r>
            <a:r>
              <a:rPr sz="1500" b="1" dirty="0" err="1">
                <a:solidFill>
                  <a:srgbClr val="0D3158"/>
                </a:solidFill>
                <a:latin typeface="Segoe UI"/>
              </a:rPr>
              <a:t>đánh</a:t>
            </a:r>
            <a:r>
              <a:rPr sz="1500" b="1" dirty="0">
                <a:solidFill>
                  <a:srgbClr val="0D3158"/>
                </a:solidFill>
                <a:latin typeface="Segoe UI"/>
              </a:rPr>
              <a:t> </a:t>
            </a:r>
            <a:r>
              <a:rPr sz="1500" b="1" dirty="0" err="1">
                <a:solidFill>
                  <a:srgbClr val="0D3158"/>
                </a:solidFill>
                <a:latin typeface="Segoe UI"/>
              </a:rPr>
              <a:t>giá</a:t>
            </a:r>
            <a:r>
              <a:rPr sz="1500" b="1" dirty="0">
                <a:solidFill>
                  <a:srgbClr val="0D3158"/>
                </a:solidFill>
                <a:latin typeface="Segoe UI"/>
              </a:rPr>
              <a:t> </a:t>
            </a:r>
            <a:r>
              <a:rPr sz="1500" b="1" dirty="0" err="1">
                <a:solidFill>
                  <a:srgbClr val="0D3158"/>
                </a:solidFill>
                <a:latin typeface="Segoe UI"/>
              </a:rPr>
              <a:t>giữ</a:t>
            </a:r>
            <a:r>
              <a:rPr sz="1500" b="1" dirty="0">
                <a:solidFill>
                  <a:srgbClr val="0D3158"/>
                </a:solidFill>
                <a:latin typeface="Segoe UI"/>
              </a:rPr>
              <a:t> </a:t>
            </a:r>
            <a:r>
              <a:rPr sz="1500" b="1" dirty="0" err="1">
                <a:solidFill>
                  <a:srgbClr val="0D3158"/>
                </a:solidFill>
                <a:latin typeface="Segoe UI"/>
              </a:rPr>
              <a:t>riêng</a:t>
            </a:r>
            <a:r>
              <a:rPr sz="1500" b="1" dirty="0">
                <a:solidFill>
                  <a:srgbClr val="0D3158"/>
                </a:solidFill>
                <a:latin typeface="Segoe UI"/>
              </a:rPr>
              <a:t> </a:t>
            </a:r>
            <a:r>
              <a:rPr sz="1500" b="1" dirty="0" err="1">
                <a:solidFill>
                  <a:srgbClr val="0D3158"/>
                </a:solidFill>
                <a:latin typeface="Segoe UI"/>
              </a:rPr>
              <a:t>đã</a:t>
            </a:r>
            <a:r>
              <a:rPr sz="1500" b="1" dirty="0">
                <a:solidFill>
                  <a:srgbClr val="0D3158"/>
                </a:solidFill>
                <a:latin typeface="Segoe UI"/>
              </a:rPr>
              <a:t> </a:t>
            </a:r>
            <a:r>
              <a:rPr sz="1500" b="1" dirty="0" err="1">
                <a:solidFill>
                  <a:srgbClr val="0D3158"/>
                </a:solidFill>
                <a:latin typeface="Segoe UI"/>
              </a:rPr>
              <a:t>bắt</a:t>
            </a:r>
            <a:r>
              <a:rPr sz="1500" b="1" dirty="0">
                <a:solidFill>
                  <a:srgbClr val="0D3158"/>
                </a:solidFill>
                <a:latin typeface="Segoe UI"/>
              </a:rPr>
              <a:t> </a:t>
            </a:r>
            <a:r>
              <a:rPr sz="1500" b="1" dirty="0" err="1">
                <a:solidFill>
                  <a:srgbClr val="0D3158"/>
                </a:solidFill>
                <a:latin typeface="Segoe UI"/>
              </a:rPr>
              <a:t>được</a:t>
            </a:r>
            <a:r>
              <a:rPr sz="1500" b="1" dirty="0">
                <a:solidFill>
                  <a:srgbClr val="0D3158"/>
                </a:solidFill>
                <a:latin typeface="Segoe UI"/>
              </a:rPr>
              <a:t> </a:t>
            </a:r>
            <a:r>
              <a:rPr sz="1500" b="1" dirty="0" err="1">
                <a:solidFill>
                  <a:srgbClr val="0D3158"/>
                </a:solidFill>
                <a:latin typeface="Segoe UI"/>
              </a:rPr>
              <a:t>lỗi</a:t>
            </a:r>
            <a:r>
              <a:rPr sz="1500" b="1" dirty="0">
                <a:solidFill>
                  <a:srgbClr val="0D3158"/>
                </a:solidFill>
                <a:latin typeface="Segoe UI"/>
              </a:rPr>
              <a:t> </a:t>
            </a:r>
            <a:r>
              <a:rPr sz="1500" b="1" dirty="0" err="1">
                <a:solidFill>
                  <a:srgbClr val="0D3158"/>
                </a:solidFill>
                <a:latin typeface="Segoe UI"/>
              </a:rPr>
              <a:t>thật</a:t>
            </a:r>
            <a:endParaRPr sz="1500" b="1" dirty="0">
              <a:solidFill>
                <a:srgbClr val="0D3158"/>
              </a:solidFill>
              <a:latin typeface="Segoe UI"/>
            </a:endParaRPr>
          </a:p>
          <a:p>
            <a:pPr algn="l">
              <a:spcAft>
                <a:spcPts val="400"/>
              </a:spcAft>
            </a:pPr>
            <a:r>
              <a:rPr sz="1150" b="0" dirty="0">
                <a:solidFill>
                  <a:srgbClr val="5B7085"/>
                </a:solidFill>
                <a:latin typeface="Segoe UI"/>
              </a:rPr>
              <a:t>Ba </a:t>
            </a:r>
            <a:r>
              <a:rPr sz="1150" b="0" dirty="0" err="1">
                <a:solidFill>
                  <a:srgbClr val="5B7085"/>
                </a:solidFill>
                <a:latin typeface="Segoe UI"/>
              </a:rPr>
              <a:t>lỗi</a:t>
            </a:r>
            <a:r>
              <a:rPr sz="1150" b="0" dirty="0">
                <a:solidFill>
                  <a:srgbClr val="5B7085"/>
                </a:solidFill>
                <a:latin typeface="Segoe UI"/>
              </a:rPr>
              <a:t> </a:t>
            </a:r>
            <a:r>
              <a:rPr sz="1150" b="0" dirty="0" err="1">
                <a:solidFill>
                  <a:srgbClr val="5B7085"/>
                </a:solidFill>
                <a:latin typeface="Segoe UI"/>
              </a:rPr>
              <a:t>khiến</a:t>
            </a:r>
            <a:r>
              <a:rPr sz="1150" b="0" dirty="0">
                <a:solidFill>
                  <a:srgbClr val="5B7085"/>
                </a:solidFill>
                <a:latin typeface="Segoe UI"/>
              </a:rPr>
              <a:t> </a:t>
            </a:r>
            <a:r>
              <a:rPr sz="1150" b="0" dirty="0" err="1">
                <a:solidFill>
                  <a:srgbClr val="5B7085"/>
                </a:solidFill>
                <a:latin typeface="Segoe UI"/>
              </a:rPr>
              <a:t>hệ</a:t>
            </a:r>
            <a:r>
              <a:rPr sz="1150" b="0" dirty="0">
                <a:solidFill>
                  <a:srgbClr val="5B7085"/>
                </a:solidFill>
                <a:latin typeface="Segoe UI"/>
              </a:rPr>
              <a:t> </a:t>
            </a:r>
            <a:r>
              <a:rPr sz="1150" b="0" dirty="0" err="1">
                <a:solidFill>
                  <a:srgbClr val="5B7085"/>
                </a:solidFill>
                <a:latin typeface="Segoe UI"/>
              </a:rPr>
              <a:t>thống</a:t>
            </a:r>
            <a:r>
              <a:rPr sz="1150" b="0" dirty="0">
                <a:solidFill>
                  <a:srgbClr val="5B7085"/>
                </a:solidFill>
                <a:latin typeface="Segoe UI"/>
              </a:rPr>
              <a:t> </a:t>
            </a:r>
            <a:r>
              <a:rPr sz="1150" b="0" dirty="0" err="1">
                <a:solidFill>
                  <a:srgbClr val="5B7085"/>
                </a:solidFill>
                <a:latin typeface="Segoe UI"/>
              </a:rPr>
              <a:t>chốt</a:t>
            </a:r>
            <a:r>
              <a:rPr sz="1150" b="0" dirty="0">
                <a:solidFill>
                  <a:srgbClr val="5B7085"/>
                </a:solidFill>
                <a:latin typeface="Segoe UI"/>
              </a:rPr>
              <a:t> </a:t>
            </a:r>
            <a:r>
              <a:rPr sz="1150" b="0" dirty="0" err="1">
                <a:solidFill>
                  <a:srgbClr val="5B7085"/>
                </a:solidFill>
                <a:latin typeface="Segoe UI"/>
              </a:rPr>
              <a:t>nhầm</a:t>
            </a:r>
            <a:r>
              <a:rPr sz="1150" b="0" dirty="0">
                <a:solidFill>
                  <a:srgbClr val="5B7085"/>
                </a:solidFill>
                <a:latin typeface="Segoe UI"/>
              </a:rPr>
              <a:t> </a:t>
            </a:r>
            <a:r>
              <a:rPr sz="1150" b="0" dirty="0" err="1">
                <a:solidFill>
                  <a:srgbClr val="5B7085"/>
                </a:solidFill>
                <a:latin typeface="Segoe UI"/>
              </a:rPr>
              <a:t>thủ</a:t>
            </a:r>
            <a:r>
              <a:rPr sz="1150" b="0" dirty="0">
                <a:solidFill>
                  <a:srgbClr val="5B7085"/>
                </a:solidFill>
                <a:latin typeface="Segoe UI"/>
              </a:rPr>
              <a:t> </a:t>
            </a:r>
            <a:r>
              <a:rPr sz="1150" b="0" dirty="0" err="1">
                <a:solidFill>
                  <a:srgbClr val="5B7085"/>
                </a:solidFill>
                <a:latin typeface="Segoe UI"/>
              </a:rPr>
              <a:t>tục</a:t>
            </a:r>
            <a:r>
              <a:rPr sz="1150" b="0" dirty="0">
                <a:solidFill>
                  <a:srgbClr val="5B7085"/>
                </a:solidFill>
                <a:latin typeface="Segoe UI"/>
              </a:rPr>
              <a:t>, </a:t>
            </a:r>
            <a:r>
              <a:rPr sz="1150" b="0" dirty="0" err="1">
                <a:solidFill>
                  <a:srgbClr val="5B7085"/>
                </a:solidFill>
                <a:latin typeface="Segoe UI"/>
              </a:rPr>
              <a:t>trong</a:t>
            </a:r>
            <a:r>
              <a:rPr sz="1150" b="0" dirty="0">
                <a:solidFill>
                  <a:srgbClr val="5B7085"/>
                </a:solidFill>
                <a:latin typeface="Segoe UI"/>
              </a:rPr>
              <a:t> </a:t>
            </a:r>
            <a:r>
              <a:rPr sz="1150" b="0" dirty="0" err="1">
                <a:solidFill>
                  <a:srgbClr val="5B7085"/>
                </a:solidFill>
                <a:latin typeface="Segoe UI"/>
              </a:rPr>
              <a:t>đó</a:t>
            </a:r>
            <a:r>
              <a:rPr sz="1150" b="0" dirty="0">
                <a:solidFill>
                  <a:srgbClr val="5B7085"/>
                </a:solidFill>
                <a:latin typeface="Segoe UI"/>
              </a:rPr>
              <a:t> </a:t>
            </a:r>
            <a:r>
              <a:rPr sz="1150" b="0" dirty="0" err="1">
                <a:solidFill>
                  <a:srgbClr val="5B7085"/>
                </a:solidFill>
                <a:latin typeface="Segoe UI"/>
              </a:rPr>
              <a:t>hai</a:t>
            </a:r>
            <a:r>
              <a:rPr sz="1150" b="0" dirty="0">
                <a:solidFill>
                  <a:srgbClr val="5B7085"/>
                </a:solidFill>
                <a:latin typeface="Segoe UI"/>
              </a:rPr>
              <a:t> </a:t>
            </a:r>
            <a:r>
              <a:rPr sz="1150" b="0" dirty="0" err="1">
                <a:solidFill>
                  <a:srgbClr val="5B7085"/>
                </a:solidFill>
                <a:latin typeface="Segoe UI"/>
              </a:rPr>
              <a:t>lỗi</a:t>
            </a:r>
            <a:r>
              <a:rPr sz="1150" b="0" dirty="0">
                <a:solidFill>
                  <a:srgbClr val="5B7085"/>
                </a:solidFill>
                <a:latin typeface="Segoe UI"/>
              </a:rPr>
              <a:t> </a:t>
            </a:r>
            <a:r>
              <a:rPr sz="1150" b="0" dirty="0" err="1">
                <a:solidFill>
                  <a:srgbClr val="5B7085"/>
                </a:solidFill>
                <a:latin typeface="Segoe UI"/>
              </a:rPr>
              <a:t>đặc</a:t>
            </a:r>
            <a:r>
              <a:rPr sz="1150" b="0" dirty="0">
                <a:solidFill>
                  <a:srgbClr val="5B7085"/>
                </a:solidFill>
                <a:latin typeface="Segoe UI"/>
              </a:rPr>
              <a:t> </a:t>
            </a:r>
            <a:r>
              <a:rPr sz="1150" b="0" dirty="0" err="1">
                <a:solidFill>
                  <a:srgbClr val="5B7085"/>
                </a:solidFill>
                <a:latin typeface="Segoe UI"/>
              </a:rPr>
              <a:t>thù</a:t>
            </a:r>
            <a:r>
              <a:rPr sz="1150" b="0" dirty="0">
                <a:solidFill>
                  <a:srgbClr val="5B7085"/>
                </a:solidFill>
                <a:latin typeface="Segoe UI"/>
              </a:rPr>
              <a:t> </a:t>
            </a:r>
            <a:r>
              <a:rPr sz="1150" b="0" dirty="0" err="1">
                <a:solidFill>
                  <a:srgbClr val="5B7085"/>
                </a:solidFill>
                <a:latin typeface="Segoe UI"/>
              </a:rPr>
              <a:t>tiếng</a:t>
            </a:r>
            <a:r>
              <a:rPr sz="1150" b="0" dirty="0">
                <a:solidFill>
                  <a:srgbClr val="5B7085"/>
                </a:solidFill>
                <a:latin typeface="Segoe UI"/>
              </a:rPr>
              <a:t> Việt: </a:t>
            </a:r>
            <a:r>
              <a:rPr sz="1150" b="0" dirty="0" err="1">
                <a:solidFill>
                  <a:srgbClr val="5B7085"/>
                </a:solidFill>
                <a:latin typeface="Segoe UI"/>
              </a:rPr>
              <a:t>bỏ</a:t>
            </a:r>
            <a:r>
              <a:rPr sz="1150" b="0" dirty="0">
                <a:solidFill>
                  <a:srgbClr val="5B7085"/>
                </a:solidFill>
                <a:latin typeface="Segoe UI"/>
              </a:rPr>
              <a:t> </a:t>
            </a:r>
            <a:r>
              <a:rPr sz="1150" b="0" dirty="0" err="1">
                <a:solidFill>
                  <a:srgbClr val="5B7085"/>
                </a:solidFill>
                <a:latin typeface="Segoe UI"/>
              </a:rPr>
              <a:t>dấu</a:t>
            </a:r>
            <a:r>
              <a:rPr sz="1150" b="0" dirty="0">
                <a:solidFill>
                  <a:srgbClr val="5B7085"/>
                </a:solidFill>
                <a:latin typeface="Segoe UI"/>
              </a:rPr>
              <a:t> </a:t>
            </a:r>
            <a:r>
              <a:rPr sz="1150" b="0" dirty="0" err="1">
                <a:solidFill>
                  <a:srgbClr val="5B7085"/>
                </a:solidFill>
                <a:latin typeface="Segoe UI"/>
              </a:rPr>
              <a:t>làm</a:t>
            </a:r>
            <a:r>
              <a:rPr sz="1150" b="0" dirty="0">
                <a:solidFill>
                  <a:srgbClr val="5B7085"/>
                </a:solidFill>
                <a:latin typeface="Segoe UI"/>
              </a:rPr>
              <a:t> “</a:t>
            </a:r>
            <a:r>
              <a:rPr sz="1150" b="0" dirty="0" err="1">
                <a:solidFill>
                  <a:srgbClr val="5B7085"/>
                </a:solidFill>
                <a:latin typeface="Segoe UI"/>
              </a:rPr>
              <a:t>chứng</a:t>
            </a:r>
            <a:r>
              <a:rPr sz="1150" b="0" dirty="0">
                <a:solidFill>
                  <a:srgbClr val="5B7085"/>
                </a:solidFill>
                <a:latin typeface="Segoe UI"/>
              </a:rPr>
              <a:t> </a:t>
            </a:r>
            <a:r>
              <a:rPr sz="1150" b="0" dirty="0" err="1">
                <a:solidFill>
                  <a:srgbClr val="5B7085"/>
                </a:solidFill>
                <a:latin typeface="Segoe UI"/>
              </a:rPr>
              <a:t>minh</a:t>
            </a:r>
            <a:r>
              <a:rPr sz="1150" b="0" dirty="0">
                <a:solidFill>
                  <a:srgbClr val="5B7085"/>
                </a:solidFill>
                <a:latin typeface="Segoe UI"/>
              </a:rPr>
              <a:t>” </a:t>
            </a:r>
            <a:r>
              <a:rPr sz="1150" b="0" dirty="0" err="1">
                <a:solidFill>
                  <a:srgbClr val="5B7085"/>
                </a:solidFill>
                <a:latin typeface="Segoe UI"/>
              </a:rPr>
              <a:t>trùng</a:t>
            </a:r>
            <a:r>
              <a:rPr sz="1150" b="0" dirty="0">
                <a:solidFill>
                  <a:srgbClr val="5B7085"/>
                </a:solidFill>
                <a:latin typeface="Segoe UI"/>
              </a:rPr>
              <a:t> “</a:t>
            </a:r>
            <a:r>
              <a:rPr sz="1150" b="0" dirty="0" err="1">
                <a:solidFill>
                  <a:srgbClr val="5B7085"/>
                </a:solidFill>
                <a:latin typeface="Segoe UI"/>
              </a:rPr>
              <a:t>chung</a:t>
            </a:r>
            <a:r>
              <a:rPr sz="1150" b="0" dirty="0">
                <a:solidFill>
                  <a:srgbClr val="5B7085"/>
                </a:solidFill>
                <a:latin typeface="Segoe UI"/>
              </a:rPr>
              <a:t> </a:t>
            </a:r>
            <a:r>
              <a:rPr sz="1150" b="0" dirty="0" err="1">
                <a:solidFill>
                  <a:srgbClr val="5B7085"/>
                </a:solidFill>
                <a:latin typeface="Segoe UI"/>
              </a:rPr>
              <a:t>mình</a:t>
            </a:r>
            <a:r>
              <a:rPr sz="1150" b="0" dirty="0">
                <a:solidFill>
                  <a:srgbClr val="5B7085"/>
                </a:solidFill>
                <a:latin typeface="Segoe UI"/>
              </a:rPr>
              <a:t>”, </a:t>
            </a:r>
            <a:r>
              <a:rPr sz="1150" b="0" dirty="0" err="1">
                <a:solidFill>
                  <a:srgbClr val="5B7085"/>
                </a:solidFill>
                <a:latin typeface="Segoe UI"/>
              </a:rPr>
              <a:t>và</a:t>
            </a:r>
            <a:r>
              <a:rPr sz="1150" b="0" dirty="0">
                <a:solidFill>
                  <a:srgbClr val="5B7085"/>
                </a:solidFill>
                <a:latin typeface="Segoe UI"/>
              </a:rPr>
              <a:t> “</a:t>
            </a:r>
            <a:r>
              <a:rPr sz="1150" b="0" dirty="0" err="1">
                <a:solidFill>
                  <a:srgbClr val="5B7085"/>
                </a:solidFill>
                <a:latin typeface="Segoe UI"/>
              </a:rPr>
              <a:t>cưới</a:t>
            </a:r>
            <a:r>
              <a:rPr sz="1150" b="0" dirty="0">
                <a:solidFill>
                  <a:srgbClr val="5B7085"/>
                </a:solidFill>
                <a:latin typeface="Segoe UI"/>
              </a:rPr>
              <a:t>” </a:t>
            </a:r>
            <a:r>
              <a:rPr sz="1150" b="0" dirty="0" err="1">
                <a:solidFill>
                  <a:srgbClr val="5B7085"/>
                </a:solidFill>
                <a:latin typeface="Segoe UI"/>
              </a:rPr>
              <a:t>trùng</a:t>
            </a:r>
            <a:r>
              <a:rPr sz="1150" b="0" dirty="0">
                <a:solidFill>
                  <a:srgbClr val="5B7085"/>
                </a:solidFill>
                <a:latin typeface="Segoe UI"/>
              </a:rPr>
              <a:t> “</a:t>
            </a:r>
            <a:r>
              <a:rPr sz="1150" b="0" dirty="0" err="1">
                <a:solidFill>
                  <a:srgbClr val="5B7085"/>
                </a:solidFill>
                <a:latin typeface="Segoe UI"/>
              </a:rPr>
              <a:t>cuối</a:t>
            </a:r>
            <a:r>
              <a:rPr sz="1150" b="0" dirty="0">
                <a:solidFill>
                  <a:srgbClr val="5B7085"/>
                </a:solidFill>
                <a:latin typeface="Segoe UI"/>
              </a:rPr>
              <a:t>”. </a:t>
            </a:r>
            <a:r>
              <a:rPr sz="1150" b="0" dirty="0" err="1">
                <a:solidFill>
                  <a:srgbClr val="5B7085"/>
                </a:solidFill>
                <a:latin typeface="Segoe UI"/>
              </a:rPr>
              <a:t>Đã</a:t>
            </a:r>
            <a:r>
              <a:rPr sz="1150" b="0" dirty="0">
                <a:solidFill>
                  <a:srgbClr val="5B7085"/>
                </a:solidFill>
                <a:latin typeface="Segoe UI"/>
              </a:rPr>
              <a:t> </a:t>
            </a:r>
            <a:r>
              <a:rPr sz="1150" b="0" dirty="0" err="1">
                <a:solidFill>
                  <a:srgbClr val="5B7085"/>
                </a:solidFill>
                <a:latin typeface="Segoe UI"/>
              </a:rPr>
              <a:t>sửa</a:t>
            </a:r>
            <a:r>
              <a:rPr sz="1150" b="0" dirty="0">
                <a:solidFill>
                  <a:srgbClr val="5B7085"/>
                </a:solidFill>
                <a:latin typeface="Segoe UI"/>
              </a:rPr>
              <a:t>, </a:t>
            </a:r>
            <a:r>
              <a:rPr sz="1150" b="0" dirty="0" err="1">
                <a:solidFill>
                  <a:srgbClr val="5B7085"/>
                </a:solidFill>
                <a:latin typeface="Segoe UI"/>
              </a:rPr>
              <a:t>có</a:t>
            </a:r>
            <a:r>
              <a:rPr sz="1150" b="0" dirty="0">
                <a:solidFill>
                  <a:srgbClr val="5B7085"/>
                </a:solidFill>
                <a:latin typeface="Segoe UI"/>
              </a:rPr>
              <a:t> </a:t>
            </a:r>
            <a:r>
              <a:rPr sz="1150" b="0" dirty="0" err="1">
                <a:solidFill>
                  <a:srgbClr val="5B7085"/>
                </a:solidFill>
                <a:latin typeface="Segoe UI"/>
              </a:rPr>
              <a:t>kiểm</a:t>
            </a:r>
            <a:r>
              <a:rPr sz="1150" b="0" dirty="0">
                <a:solidFill>
                  <a:srgbClr val="5B7085"/>
                </a:solidFill>
                <a:latin typeface="Segoe UI"/>
              </a:rPr>
              <a:t> </a:t>
            </a:r>
            <a:r>
              <a:rPr sz="1150" b="0" dirty="0" err="1">
                <a:solidFill>
                  <a:srgbClr val="5B7085"/>
                </a:solidFill>
                <a:latin typeface="Segoe UI"/>
              </a:rPr>
              <a:t>thử</a:t>
            </a:r>
            <a:r>
              <a:rPr sz="1150" b="0" dirty="0">
                <a:solidFill>
                  <a:srgbClr val="5B7085"/>
                </a:solidFill>
                <a:latin typeface="Segoe UI"/>
              </a:rPr>
              <a:t> </a:t>
            </a:r>
            <a:r>
              <a:rPr sz="1150" b="0" dirty="0" err="1">
                <a:solidFill>
                  <a:srgbClr val="5B7085"/>
                </a:solidFill>
                <a:latin typeface="Segoe UI"/>
              </a:rPr>
              <a:t>khoá</a:t>
            </a:r>
            <a:r>
              <a:rPr sz="1150" b="0" dirty="0">
                <a:solidFill>
                  <a:srgbClr val="5B7085"/>
                </a:solidFill>
                <a:latin typeface="Segoe UI"/>
              </a:rPr>
              <a:t> </a:t>
            </a:r>
            <a:r>
              <a:rPr sz="1150" b="0" dirty="0" err="1">
                <a:solidFill>
                  <a:srgbClr val="5B7085"/>
                </a:solidFill>
                <a:latin typeface="Segoe UI"/>
              </a:rPr>
              <a:t>lại</a:t>
            </a:r>
            <a:r>
              <a:rPr sz="1150" b="0" dirty="0">
                <a:solidFill>
                  <a:srgbClr val="5B7085"/>
                </a:solidFill>
                <a:latin typeface="Segoe UI"/>
              </a:rPr>
              <a:t>.</a:t>
            </a:r>
          </a:p>
        </p:txBody>
      </p:sp>
      <p:sp>
        <p:nvSpPr>
          <p:cNvPr id="12" name="Rectangle 11"/>
          <p:cNvSpPr/>
          <p:nvPr/>
        </p:nvSpPr>
        <p:spPr>
          <a:xfrm>
            <a:off x="685800" y="5486400"/>
            <a:ext cx="10789920" cy="868680"/>
          </a:xfrm>
          <a:prstGeom prst="rect">
            <a:avLst/>
          </a:prstGeom>
          <a:solidFill>
            <a:srgbClr val="E9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623560"/>
            <a:ext cx="10332720" cy="640080"/>
          </a:xfrm>
          <a:prstGeom prst="rect">
            <a:avLst/>
          </a:prstGeom>
          <a:noFill/>
        </p:spPr>
        <p:txBody>
          <a:bodyPr wrap="square">
            <a:spAutoFit/>
          </a:bodyPr>
          <a:lstStyle/>
          <a:p>
            <a:pPr algn="l">
              <a:spcAft>
                <a:spcPts val="600"/>
              </a:spcAft>
            </a:pPr>
            <a:r>
              <a:rPr sz="1250" b="1">
                <a:solidFill>
                  <a:srgbClr val="167C78"/>
                </a:solidFill>
                <a:latin typeface="Segoe UI"/>
              </a:rPr>
              <a:t>Chốt nhầm thủ tục làm sai TOÀN BỘ checklist phía sau — người dân chuẩn bị đúng một bộ giấy tờ cho sai một thủ tục. Vì vậy nó là cổng chặn merge, không phải chỉ số cải thiện dần.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LỢI THẾ</a:t>
            </a:r>
          </a:p>
          <a:p>
            <a:pPr algn="l">
              <a:spcAft>
                <a:spcPts val="300"/>
              </a:spcAft>
            </a:pPr>
            <a:r>
              <a:rPr sz="3300" b="1">
                <a:solidFill>
                  <a:srgbClr val="0D3158"/>
                </a:solidFill>
                <a:latin typeface="Segoe UI"/>
              </a:rPr>
              <a:t>Vì sao khó sao chép</a:t>
            </a:r>
          </a:p>
        </p:txBody>
      </p:sp>
      <p:sp>
        <p:nvSpPr>
          <p:cNvPr id="3" name="Rectangle 2"/>
          <p:cNvSpPr/>
          <p:nvPr/>
        </p:nvSpPr>
        <p:spPr>
          <a:xfrm>
            <a:off x="685800" y="1505823"/>
            <a:ext cx="10789920" cy="1207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1505823"/>
            <a:ext cx="50292" cy="1207008"/>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52127"/>
            <a:ext cx="10378440" cy="932688"/>
          </a:xfrm>
          <a:prstGeom prst="rect">
            <a:avLst/>
          </a:prstGeom>
          <a:noFill/>
        </p:spPr>
        <p:txBody>
          <a:bodyPr wrap="square">
            <a:spAutoFit/>
          </a:bodyPr>
          <a:lstStyle/>
          <a:p>
            <a:pPr algn="l">
              <a:spcAft>
                <a:spcPts val="400"/>
              </a:spcAft>
            </a:pPr>
            <a:r>
              <a:rPr sz="1500" b="1">
                <a:solidFill>
                  <a:srgbClr val="0D3158"/>
                </a:solidFill>
                <a:latin typeface="Segoe UI"/>
              </a:rPr>
              <a:t>Dữ liệu thủ tục có kỷ luật nguồn</a:t>
            </a:r>
          </a:p>
          <a:p>
            <a:pPr algn="l">
              <a:spcAft>
                <a:spcPts val="400"/>
              </a:spcAft>
            </a:pPr>
            <a:r>
              <a:rPr sz="1200" b="0">
                <a:solidFill>
                  <a:srgbClr val="5B7085"/>
                </a:solidFill>
                <a:latin typeface="Segoe UI"/>
              </a:rPr>
              <a:t>Không phải bộ prompt. Là danh mục thủ tục chuẩn hoá, mỗi mục truy vết được về văn bản công bố, có quy trình đồng bộ khi nguồn đổi.</a:t>
            </a:r>
          </a:p>
        </p:txBody>
      </p:sp>
      <p:sp>
        <p:nvSpPr>
          <p:cNvPr id="6" name="Rectangle 5"/>
          <p:cNvSpPr/>
          <p:nvPr/>
        </p:nvSpPr>
        <p:spPr>
          <a:xfrm>
            <a:off x="685800" y="2877423"/>
            <a:ext cx="10789920" cy="1207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2877423"/>
            <a:ext cx="50292" cy="1207008"/>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023727"/>
            <a:ext cx="10378440" cy="932688"/>
          </a:xfrm>
          <a:prstGeom prst="rect">
            <a:avLst/>
          </a:prstGeom>
          <a:noFill/>
        </p:spPr>
        <p:txBody>
          <a:bodyPr wrap="square">
            <a:spAutoFit/>
          </a:bodyPr>
          <a:lstStyle/>
          <a:p>
            <a:pPr algn="l">
              <a:spcAft>
                <a:spcPts val="400"/>
              </a:spcAft>
            </a:pPr>
            <a:r>
              <a:rPr sz="1500" b="1">
                <a:solidFill>
                  <a:srgbClr val="0D3158"/>
                </a:solidFill>
                <a:latin typeface="Segoe UI"/>
              </a:rPr>
              <a:t>Tách bạch AI và luật</a:t>
            </a:r>
          </a:p>
          <a:p>
            <a:pPr algn="l">
              <a:spcAft>
                <a:spcPts val="400"/>
              </a:spcAft>
            </a:pPr>
            <a:r>
              <a:rPr sz="1200" b="0">
                <a:solidFill>
                  <a:srgbClr val="5B7085"/>
                </a:solidFill>
                <a:latin typeface="Segoe UI"/>
              </a:rPr>
              <a:t>Luật kiểm tra viết dưới dạng khai báo, tách khỏi mô hình. Thêm thủ tục mới không cần huấn luyện lại, và không làm AI 'chế' ra quy định.</a:t>
            </a:r>
          </a:p>
        </p:txBody>
      </p:sp>
      <p:sp>
        <p:nvSpPr>
          <p:cNvPr id="9" name="Rectangle 8"/>
          <p:cNvSpPr/>
          <p:nvPr/>
        </p:nvSpPr>
        <p:spPr>
          <a:xfrm>
            <a:off x="685800" y="4249023"/>
            <a:ext cx="10789920" cy="1207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4249023"/>
            <a:ext cx="50292" cy="1207008"/>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395327"/>
            <a:ext cx="10378440" cy="932688"/>
          </a:xfrm>
          <a:prstGeom prst="rect">
            <a:avLst/>
          </a:prstGeom>
          <a:noFill/>
        </p:spPr>
        <p:txBody>
          <a:bodyPr wrap="square">
            <a:spAutoFit/>
          </a:bodyPr>
          <a:lstStyle/>
          <a:p>
            <a:pPr algn="l">
              <a:spcAft>
                <a:spcPts val="400"/>
              </a:spcAft>
            </a:pPr>
            <a:r>
              <a:rPr sz="1500" b="1">
                <a:solidFill>
                  <a:srgbClr val="0D3158"/>
                </a:solidFill>
                <a:latin typeface="Segoe UI"/>
              </a:rPr>
              <a:t>Vòng phản hồi từ cán bộ</a:t>
            </a:r>
          </a:p>
          <a:p>
            <a:pPr algn="l">
              <a:spcAft>
                <a:spcPts val="400"/>
              </a:spcAft>
            </a:pPr>
            <a:r>
              <a:rPr sz="1200" b="0">
                <a:solidFill>
                  <a:srgbClr val="5B7085"/>
                </a:solidFill>
                <a:latin typeface="Segoe UI"/>
              </a:rPr>
              <a:t>Mỗi lần cán bộ sửa kết quả AI là một nhãn dữ liệu. Càng dùng, checklist càng khớp thực tế địa phương.</a:t>
            </a:r>
          </a:p>
        </p:txBody>
      </p:sp>
      <p:sp>
        <p:nvSpPr>
          <p:cNvPr id="12" name="TextBox 11"/>
          <p:cNvSpPr txBox="1"/>
          <p:nvPr/>
        </p:nvSpPr>
        <p:spPr>
          <a:xfrm>
            <a:off x="685800" y="5669280"/>
            <a:ext cx="10789920" cy="640080"/>
          </a:xfrm>
          <a:prstGeom prst="rect">
            <a:avLst/>
          </a:prstGeom>
          <a:noFill/>
        </p:spPr>
        <p:txBody>
          <a:bodyPr wrap="square">
            <a:spAutoFit/>
          </a:bodyPr>
          <a:lstStyle/>
          <a:p>
            <a:pPr algn="l">
              <a:spcAft>
                <a:spcPts val="600"/>
              </a:spcAft>
            </a:pPr>
            <a:r>
              <a:rPr sz="1500" b="1">
                <a:solidFill>
                  <a:srgbClr val="0D3158"/>
                </a:solidFill>
                <a:latin typeface="Segoe UI"/>
              </a:rPr>
              <a:t>Đối thủ dựng được con chatbot trong một tuần. Dựng được lớp truy vết nguồn thì không.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THỊ TRƯỜNG</a:t>
            </a:r>
          </a:p>
          <a:p>
            <a:pPr algn="l">
              <a:spcAft>
                <a:spcPts val="300"/>
              </a:spcAft>
            </a:pPr>
            <a:r>
              <a:rPr sz="3300" b="1">
                <a:solidFill>
                  <a:srgbClr val="0D3158"/>
                </a:solidFill>
                <a:latin typeface="Segoe UI"/>
              </a:rPr>
              <a:t>Quy mô cơ hội</a:t>
            </a:r>
          </a:p>
        </p:txBody>
      </p:sp>
      <p:sp>
        <p:nvSpPr>
          <p:cNvPr id="3" name="Rectangle 2"/>
          <p:cNvSpPr/>
          <p:nvPr/>
        </p:nvSpPr>
        <p:spPr>
          <a:xfrm>
            <a:off x="685800" y="2194560"/>
            <a:ext cx="10789920" cy="1371600"/>
          </a:xfrm>
          <a:prstGeom prst="rect">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2194560"/>
            <a:ext cx="50292" cy="1371600"/>
          </a:xfrm>
          <a:prstGeom prst="rect">
            <a:avLst/>
          </a:prstGeom>
          <a:solidFill>
            <a:srgbClr val="C2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322576"/>
            <a:ext cx="10378440" cy="1115568"/>
          </a:xfrm>
          <a:prstGeom prst="rect">
            <a:avLst/>
          </a:prstGeom>
          <a:noFill/>
        </p:spPr>
        <p:txBody>
          <a:bodyPr wrap="square">
            <a:spAutoFit/>
          </a:bodyPr>
          <a:lstStyle/>
          <a:p>
            <a:pPr algn="l">
              <a:spcAft>
                <a:spcPts val="400"/>
              </a:spcAft>
            </a:pPr>
            <a:r>
              <a:rPr sz="1000" b="1">
                <a:solidFill>
                  <a:srgbClr val="C25A1E"/>
                </a:solidFill>
                <a:latin typeface="Segoe UI"/>
              </a:rPr>
              <a:t>⚠ CẦN SỐ LIỆU THẬT</a:t>
            </a:r>
          </a:p>
          <a:p>
            <a:pPr algn="l">
              <a:spcAft>
                <a:spcPts val="400"/>
              </a:spcAft>
            </a:pPr>
            <a:r>
              <a:rPr sz="1200" b="0">
                <a:solidFill>
                  <a:srgbClr val="1B2A3D"/>
                </a:solidFill>
                <a:latin typeface="Segoe UI"/>
              </a:rPr>
              <a:t>TAM / SAM / SOM. Gợi ý nguồn công khai để lấy số: số đơn vị hành chính cấp xã sau sáp nhập; tổng số hồ sơ TTHC tiếp nhận/năm trên Cổng Dịch vụ công Quốc gia; ngân sách chuyển đổi số cấp tỉnh.</a:t>
            </a:r>
          </a:p>
        </p:txBody>
      </p:sp>
      <p:sp>
        <p:nvSpPr>
          <p:cNvPr id="6" name="Rectangle 5"/>
          <p:cNvSpPr/>
          <p:nvPr/>
        </p:nvSpPr>
        <p:spPr>
          <a:xfrm>
            <a:off x="685800" y="3703320"/>
            <a:ext cx="5303520" cy="1371600"/>
          </a:xfrm>
          <a:prstGeom prst="rect">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3703320"/>
            <a:ext cx="50292" cy="1371600"/>
          </a:xfrm>
          <a:prstGeom prst="rect">
            <a:avLst/>
          </a:prstGeom>
          <a:solidFill>
            <a:srgbClr val="C2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831335"/>
            <a:ext cx="4892040" cy="1115568"/>
          </a:xfrm>
          <a:prstGeom prst="rect">
            <a:avLst/>
          </a:prstGeom>
          <a:noFill/>
        </p:spPr>
        <p:txBody>
          <a:bodyPr wrap="square">
            <a:spAutoFit/>
          </a:bodyPr>
          <a:lstStyle/>
          <a:p>
            <a:pPr algn="l">
              <a:spcAft>
                <a:spcPts val="400"/>
              </a:spcAft>
            </a:pPr>
            <a:r>
              <a:rPr sz="1000" b="1">
                <a:solidFill>
                  <a:srgbClr val="C25A1E"/>
                </a:solidFill>
                <a:latin typeface="Segoe UI"/>
              </a:rPr>
              <a:t>⚠ CẦN SỐ LIỆU THẬT</a:t>
            </a:r>
          </a:p>
          <a:p>
            <a:pPr algn="l">
              <a:spcAft>
                <a:spcPts val="400"/>
              </a:spcAft>
            </a:pPr>
            <a:r>
              <a:rPr sz="1200" b="0">
                <a:solidFill>
                  <a:srgbClr val="1B2A3D"/>
                </a:solidFill>
                <a:latin typeface="Segoe UI"/>
              </a:rPr>
              <a:t>Vì sao là LÚC NÀY: chính sách chuyển đổi số, phân cấp về cấp xã, dữ liệu dân cư đã liên thông.</a:t>
            </a:r>
          </a:p>
        </p:txBody>
      </p:sp>
      <p:sp>
        <p:nvSpPr>
          <p:cNvPr id="9" name="Rectangle 8"/>
          <p:cNvSpPr/>
          <p:nvPr/>
        </p:nvSpPr>
        <p:spPr>
          <a:xfrm>
            <a:off x="6172200" y="3703320"/>
            <a:ext cx="5303520" cy="1371600"/>
          </a:xfrm>
          <a:prstGeom prst="rect">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72200" y="3703320"/>
            <a:ext cx="50292" cy="1371600"/>
          </a:xfrm>
          <a:prstGeom prst="rect">
            <a:avLst/>
          </a:prstGeom>
          <a:solidFill>
            <a:srgbClr val="C2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3831335"/>
            <a:ext cx="4892040" cy="1115568"/>
          </a:xfrm>
          <a:prstGeom prst="rect">
            <a:avLst/>
          </a:prstGeom>
          <a:noFill/>
        </p:spPr>
        <p:txBody>
          <a:bodyPr wrap="square">
            <a:spAutoFit/>
          </a:bodyPr>
          <a:lstStyle/>
          <a:p>
            <a:pPr algn="l">
              <a:spcAft>
                <a:spcPts val="400"/>
              </a:spcAft>
            </a:pPr>
            <a:r>
              <a:rPr sz="1000" b="1">
                <a:solidFill>
                  <a:srgbClr val="C25A1E"/>
                </a:solidFill>
                <a:latin typeface="Segoe UI"/>
              </a:rPr>
              <a:t>⚠ CẦN SỐ LIỆU THẬT</a:t>
            </a:r>
          </a:p>
          <a:p>
            <a:pPr algn="l">
              <a:spcAft>
                <a:spcPts val="400"/>
              </a:spcAft>
            </a:pPr>
            <a:r>
              <a:rPr sz="1200" b="0">
                <a:solidFill>
                  <a:srgbClr val="1B2A3D"/>
                </a:solidFill>
                <a:latin typeface="Segoe UI"/>
              </a:rPr>
              <a:t>Đã có xã/phường nào đồng ý thử? Tên đơn vị + người liên hệ có sức nặng hơn mọi con số ước lượng.</a:t>
            </a:r>
          </a:p>
        </p:txBody>
      </p:sp>
      <p:sp>
        <p:nvSpPr>
          <p:cNvPr id="12" name="TextBox 11"/>
          <p:cNvSpPr txBox="1"/>
          <p:nvPr/>
        </p:nvSpPr>
        <p:spPr>
          <a:xfrm>
            <a:off x="685800" y="5303520"/>
            <a:ext cx="10789920" cy="822960"/>
          </a:xfrm>
          <a:prstGeom prst="rect">
            <a:avLst/>
          </a:prstGeom>
          <a:noFill/>
        </p:spPr>
        <p:txBody>
          <a:bodyPr wrap="square">
            <a:spAutoFit/>
          </a:bodyPr>
          <a:lstStyle/>
          <a:p>
            <a:pPr algn="l">
              <a:spcAft>
                <a:spcPts val="600"/>
              </a:spcAft>
            </a:pPr>
            <a:r>
              <a:rPr sz="1300" b="1">
                <a:solidFill>
                  <a:srgbClr val="C25A1E"/>
                </a:solidFill>
                <a:latin typeface="Segoe UI"/>
              </a:rPr>
              <a:t>Tài liệu pitching nhấn: “Nếu dùng số liệu cụ thể, phải luôn có nguồn xác thực.” Ba ô trên để trống có chủ đích — điền bằng số thật, đừng điền bằng số đoán.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MÔ HÌNH KINH DOANH</a:t>
            </a:r>
          </a:p>
          <a:p>
            <a:pPr algn="l">
              <a:spcAft>
                <a:spcPts val="300"/>
              </a:spcAft>
            </a:pPr>
            <a:r>
              <a:rPr sz="3300" b="1">
                <a:solidFill>
                  <a:srgbClr val="0D3158"/>
                </a:solidFill>
                <a:latin typeface="Segoe UI"/>
              </a:rPr>
              <a:t>Ai trả tiền, trả cho cái gì</a:t>
            </a:r>
          </a:p>
        </p:txBody>
      </p:sp>
      <p:sp>
        <p:nvSpPr>
          <p:cNvPr id="3" name="Rectangle 2"/>
          <p:cNvSpPr/>
          <p:nvPr/>
        </p:nvSpPr>
        <p:spPr>
          <a:xfrm>
            <a:off x="685800" y="1396766"/>
            <a:ext cx="10789920"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1396766"/>
            <a:ext cx="50292" cy="1078992"/>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43070"/>
            <a:ext cx="10378440" cy="804671"/>
          </a:xfrm>
          <a:prstGeom prst="rect">
            <a:avLst/>
          </a:prstGeom>
          <a:noFill/>
        </p:spPr>
        <p:txBody>
          <a:bodyPr wrap="square">
            <a:spAutoFit/>
          </a:bodyPr>
          <a:lstStyle/>
          <a:p>
            <a:pPr algn="l">
              <a:spcAft>
                <a:spcPts val="400"/>
              </a:spcAft>
            </a:pPr>
            <a:r>
              <a:rPr sz="1500" b="1">
                <a:solidFill>
                  <a:srgbClr val="0D3158"/>
                </a:solidFill>
                <a:latin typeface="Segoe UI"/>
              </a:rPr>
              <a:t>Người dùng cuối</a:t>
            </a:r>
          </a:p>
          <a:p>
            <a:pPr algn="l">
              <a:spcAft>
                <a:spcPts val="400"/>
              </a:spcAft>
            </a:pPr>
            <a:r>
              <a:rPr sz="1200" b="0">
                <a:solidFill>
                  <a:srgbClr val="5B7085"/>
                </a:solidFill>
                <a:latin typeface="Segoe UI"/>
              </a:rPr>
              <a:t>Người dân — miễn phí. Đây là dịch vụ công, thu phí người dân là phản tác dụng.</a:t>
            </a:r>
          </a:p>
        </p:txBody>
      </p:sp>
      <p:sp>
        <p:nvSpPr>
          <p:cNvPr id="6" name="Rectangle 5"/>
          <p:cNvSpPr/>
          <p:nvPr/>
        </p:nvSpPr>
        <p:spPr>
          <a:xfrm>
            <a:off x="685800" y="2631206"/>
            <a:ext cx="10789920"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2631206"/>
            <a:ext cx="50292" cy="1078992"/>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777510"/>
            <a:ext cx="10378440" cy="804671"/>
          </a:xfrm>
          <a:prstGeom prst="rect">
            <a:avLst/>
          </a:prstGeom>
          <a:noFill/>
        </p:spPr>
        <p:txBody>
          <a:bodyPr wrap="square">
            <a:spAutoFit/>
          </a:bodyPr>
          <a:lstStyle/>
          <a:p>
            <a:pPr algn="l">
              <a:spcAft>
                <a:spcPts val="400"/>
              </a:spcAft>
            </a:pPr>
            <a:r>
              <a:rPr sz="1500" b="1">
                <a:solidFill>
                  <a:srgbClr val="0D3158"/>
                </a:solidFill>
                <a:latin typeface="Segoe UI"/>
              </a:rPr>
              <a:t>Người trả tiền</a:t>
            </a:r>
          </a:p>
          <a:p>
            <a:pPr algn="l">
              <a:spcAft>
                <a:spcPts val="400"/>
              </a:spcAft>
            </a:pPr>
            <a:r>
              <a:rPr sz="1200" b="0">
                <a:solidFill>
                  <a:srgbClr val="5B7085"/>
                </a:solidFill>
                <a:latin typeface="Segoe UI"/>
              </a:rPr>
              <a:t>Cơ quan nhà nước (UBND cấp xã/huyện/tỉnh) — trả cho việc giảm tải quầy tiếp nhận và có số liệu điều hành.</a:t>
            </a:r>
          </a:p>
        </p:txBody>
      </p:sp>
      <p:sp>
        <p:nvSpPr>
          <p:cNvPr id="9" name="Rectangle 8"/>
          <p:cNvSpPr/>
          <p:nvPr/>
        </p:nvSpPr>
        <p:spPr>
          <a:xfrm>
            <a:off x="685800" y="3865646"/>
            <a:ext cx="10789920"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3865646"/>
            <a:ext cx="50292" cy="1078992"/>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011950"/>
            <a:ext cx="10378440" cy="804671"/>
          </a:xfrm>
          <a:prstGeom prst="rect">
            <a:avLst/>
          </a:prstGeom>
          <a:noFill/>
        </p:spPr>
        <p:txBody>
          <a:bodyPr wrap="square">
            <a:spAutoFit/>
          </a:bodyPr>
          <a:lstStyle/>
          <a:p>
            <a:pPr algn="l">
              <a:spcAft>
                <a:spcPts val="400"/>
              </a:spcAft>
            </a:pPr>
            <a:r>
              <a:rPr sz="1500" b="1">
                <a:solidFill>
                  <a:srgbClr val="0D3158"/>
                </a:solidFill>
                <a:latin typeface="Segoe UI"/>
              </a:rPr>
              <a:t>Hình thức</a:t>
            </a:r>
          </a:p>
          <a:p>
            <a:pPr algn="l">
              <a:spcAft>
                <a:spcPts val="400"/>
              </a:spcAft>
            </a:pPr>
            <a:r>
              <a:rPr sz="1200" b="0">
                <a:solidFill>
                  <a:srgbClr val="5B7085"/>
                </a:solidFill>
                <a:latin typeface="Segoe UI"/>
              </a:rPr>
              <a:t>Thuê bao theo đơn vị hành chính + phí triển khai ban đầu (chuẩn hoá danh mục thủ tục địa phương).</a:t>
            </a:r>
          </a:p>
        </p:txBody>
      </p:sp>
      <p:sp>
        <p:nvSpPr>
          <p:cNvPr id="12" name="TextBox 11"/>
          <p:cNvSpPr txBox="1"/>
          <p:nvPr/>
        </p:nvSpPr>
        <p:spPr>
          <a:xfrm>
            <a:off x="685800" y="5164094"/>
            <a:ext cx="10789920" cy="530352"/>
          </a:xfrm>
          <a:prstGeom prst="rect">
            <a:avLst/>
          </a:prstGeom>
          <a:noFill/>
        </p:spPr>
        <p:txBody>
          <a:bodyPr wrap="square">
            <a:spAutoFit/>
          </a:bodyPr>
          <a:lstStyle/>
          <a:p>
            <a:pPr algn="l">
              <a:spcAft>
                <a:spcPts val="600"/>
              </a:spcAft>
            </a:pPr>
            <a:r>
              <a:rPr sz="1200" b="1">
                <a:solidFill>
                  <a:srgbClr val="167C78"/>
                </a:solidFill>
                <a:latin typeface="Segoe UI"/>
              </a:rPr>
              <a:t>Chi phí AI mỗi hồ sơ: ~410 đ (0,016 USD) — tính từ giá token thật và tỉ lệ 2,17 ký tự/token đo trên chính prompt của hệ thống. Ở mức đó, miễn phí cho người dân là bền vững.</a:t>
            </a:r>
          </a:p>
        </p:txBody>
      </p:sp>
      <p:sp>
        <p:nvSpPr>
          <p:cNvPr id="16" name="TextBox 15"/>
          <p:cNvSpPr txBox="1"/>
          <p:nvPr/>
        </p:nvSpPr>
        <p:spPr>
          <a:xfrm>
            <a:off x="685800" y="4597166"/>
            <a:ext cx="10789920" cy="548640"/>
          </a:xfrm>
          <a:prstGeom prst="rect">
            <a:avLst/>
          </a:prstGeom>
          <a:noFill/>
        </p:spPr>
        <p:txBody>
          <a:bodyPr wrap="square">
            <a:spAutoFit/>
          </a:bodyPr>
          <a:lstStyle/>
          <a:p>
            <a:pPr algn="l">
              <a:spcAft>
                <a:spcPts val="600"/>
              </a:spcAft>
            </a:pPr>
            <a:r>
              <a:rPr sz="1250" b="0">
                <a:solidFill>
                  <a:srgbClr val="5B7085"/>
                </a:solidFill>
                <a:latin typeface="Segoe UI"/>
              </a:rPr>
              <a:t>Lưu ý: mô hình mua sắm công có quy trình riêng — cần nêu rõ đường vào (thí điểm → nghiệm thu → mở rộng).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ĐỘI NGŨ</a:t>
            </a:r>
          </a:p>
          <a:p>
            <a:pPr algn="l">
              <a:spcAft>
                <a:spcPts val="300"/>
              </a:spcAft>
            </a:pPr>
            <a:r>
              <a:rPr sz="3300" b="1">
                <a:solidFill>
                  <a:srgbClr val="0D3158"/>
                </a:solidFill>
                <a:latin typeface="Segoe UI"/>
              </a:rPr>
              <a:t>Ai thực thi</a:t>
            </a:r>
          </a:p>
        </p:txBody>
      </p:sp>
      <p:sp>
        <p:nvSpPr>
          <p:cNvPr id="3" name="Rectangle 2"/>
          <p:cNvSpPr/>
          <p:nvPr/>
        </p:nvSpPr>
        <p:spPr>
          <a:xfrm>
            <a:off x="685800" y="2286000"/>
            <a:ext cx="10789920" cy="1828800"/>
          </a:xfrm>
          <a:prstGeom prst="rect">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2286000"/>
            <a:ext cx="50292" cy="1828800"/>
          </a:xfrm>
          <a:prstGeom prst="rect">
            <a:avLst/>
          </a:prstGeom>
          <a:solidFill>
            <a:srgbClr val="C2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414016"/>
            <a:ext cx="10378440" cy="1572768"/>
          </a:xfrm>
          <a:prstGeom prst="rect">
            <a:avLst/>
          </a:prstGeom>
          <a:noFill/>
        </p:spPr>
        <p:txBody>
          <a:bodyPr wrap="square">
            <a:spAutoFit/>
          </a:bodyPr>
          <a:lstStyle/>
          <a:p>
            <a:pPr algn="l">
              <a:spcAft>
                <a:spcPts val="400"/>
              </a:spcAft>
            </a:pPr>
            <a:r>
              <a:rPr sz="1000" b="1">
                <a:solidFill>
                  <a:srgbClr val="C25A1E"/>
                </a:solidFill>
                <a:latin typeface="Segoe UI"/>
              </a:rPr>
              <a:t>⚠ CẦN SỐ LIỆU THẬT</a:t>
            </a:r>
          </a:p>
          <a:p>
            <a:pPr algn="l">
              <a:spcAft>
                <a:spcPts val="400"/>
              </a:spcAft>
            </a:pPr>
            <a:r>
              <a:rPr sz="1200" b="0">
                <a:solidFill>
                  <a:srgbClr val="1B2A3D"/>
                </a:solidFill>
                <a:latin typeface="Segoe UI"/>
              </a:rPr>
              <a:t>Tên, vai trò, và VÌ SAO chính người này làm được việc này (kinh nghiệm liên quan: AI/RAG, backend, khu vực công, thiết kế). Nhà đầu tư đọc slide Team để đánh giá năng lực thực thi.</a:t>
            </a:r>
          </a:p>
        </p:txBody>
      </p:sp>
      <p:sp>
        <p:nvSpPr>
          <p:cNvPr id="6" name="Rectangle 5"/>
          <p:cNvSpPr/>
          <p:nvPr/>
        </p:nvSpPr>
        <p:spPr>
          <a:xfrm>
            <a:off x="685800" y="4297680"/>
            <a:ext cx="53035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4297680"/>
            <a:ext cx="50292" cy="1371600"/>
          </a:xfrm>
          <a:prstGeom prst="rect">
            <a:avLst/>
          </a:prstGeom>
          <a:solidFill>
            <a:srgbClr val="16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443984"/>
            <a:ext cx="4892040" cy="1097280"/>
          </a:xfrm>
          <a:prstGeom prst="rect">
            <a:avLst/>
          </a:prstGeom>
          <a:noFill/>
        </p:spPr>
        <p:txBody>
          <a:bodyPr wrap="square">
            <a:spAutoFit/>
          </a:bodyPr>
          <a:lstStyle/>
          <a:p>
            <a:pPr algn="l">
              <a:spcAft>
                <a:spcPts val="400"/>
              </a:spcAft>
            </a:pPr>
            <a:r>
              <a:rPr sz="1500" b="1">
                <a:solidFill>
                  <a:srgbClr val="0D3158"/>
                </a:solidFill>
                <a:latin typeface="Segoe UI"/>
              </a:rPr>
              <a:t>Đã chứng minh được</a:t>
            </a:r>
          </a:p>
          <a:p>
            <a:pPr algn="l">
              <a:spcAft>
                <a:spcPts val="400"/>
              </a:spcAft>
            </a:pPr>
            <a:r>
              <a:rPr sz="1200" b="0">
                <a:solidFill>
                  <a:srgbClr val="5B7085"/>
                </a:solidFill>
                <a:latin typeface="Segoe UI"/>
              </a:rPr>
              <a:t>Dựng xong luồng đầy đủ hai phía trong thời gian hackathon, có kiểm thử tự động và kỷ luật nguồn dữ liệu.</a:t>
            </a:r>
          </a:p>
        </p:txBody>
      </p:sp>
      <p:sp>
        <p:nvSpPr>
          <p:cNvPr id="9" name="Rectangle 8"/>
          <p:cNvSpPr/>
          <p:nvPr/>
        </p:nvSpPr>
        <p:spPr>
          <a:xfrm>
            <a:off x="6217920" y="4297680"/>
            <a:ext cx="53035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17920" y="4297680"/>
            <a:ext cx="50292" cy="1371600"/>
          </a:xfrm>
          <a:prstGeom prst="rect">
            <a:avLst/>
          </a:prstGeom>
          <a:solidFill>
            <a:srgbClr val="C2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4443984"/>
            <a:ext cx="4892040" cy="1097280"/>
          </a:xfrm>
          <a:prstGeom prst="rect">
            <a:avLst/>
          </a:prstGeom>
          <a:noFill/>
        </p:spPr>
        <p:txBody>
          <a:bodyPr wrap="square">
            <a:spAutoFit/>
          </a:bodyPr>
          <a:lstStyle/>
          <a:p>
            <a:pPr algn="l">
              <a:spcAft>
                <a:spcPts val="400"/>
              </a:spcAft>
            </a:pPr>
            <a:r>
              <a:rPr sz="1500" b="1">
                <a:solidFill>
                  <a:srgbClr val="0D3158"/>
                </a:solidFill>
                <a:latin typeface="Segoe UI"/>
              </a:rPr>
              <a:t>Đang cần bổ sung</a:t>
            </a:r>
          </a:p>
          <a:p>
            <a:pPr algn="l">
              <a:spcAft>
                <a:spcPts val="400"/>
              </a:spcAft>
            </a:pPr>
            <a:r>
              <a:rPr sz="1200" b="0">
                <a:solidFill>
                  <a:srgbClr val="5B7085"/>
                </a:solidFill>
                <a:latin typeface="Segoe UI"/>
              </a:rPr>
              <a:t>Người có quan hệ triển khai khu vực công và kinh nghiệm mua sắm công.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881360" cy="1371600"/>
          </a:xfrm>
          <a:prstGeom prst="rect">
            <a:avLst/>
          </a:prstGeom>
          <a:noFill/>
        </p:spPr>
        <p:txBody>
          <a:bodyPr wrap="square">
            <a:spAutoFit/>
          </a:bodyPr>
          <a:lstStyle/>
          <a:p>
            <a:pPr algn="l">
              <a:spcAft>
                <a:spcPts val="300"/>
              </a:spcAft>
            </a:pPr>
            <a:r>
              <a:rPr sz="1100" b="1">
                <a:solidFill>
                  <a:srgbClr val="176FA6"/>
                </a:solidFill>
                <a:latin typeface="Segoe UI"/>
              </a:rPr>
              <a:t>LỘ TRÌNH</a:t>
            </a:r>
          </a:p>
          <a:p>
            <a:pPr algn="l">
              <a:spcAft>
                <a:spcPts val="300"/>
              </a:spcAft>
            </a:pPr>
            <a:r>
              <a:rPr sz="3300" b="1">
                <a:solidFill>
                  <a:srgbClr val="0D3158"/>
                </a:solidFill>
                <a:latin typeface="Segoe UI"/>
              </a:rPr>
              <a:t>Từ demo đến triển khai thật</a:t>
            </a:r>
          </a:p>
        </p:txBody>
      </p:sp>
      <p:sp>
        <p:nvSpPr>
          <p:cNvPr id="3" name="Rectangle 2"/>
          <p:cNvSpPr/>
          <p:nvPr/>
        </p:nvSpPr>
        <p:spPr>
          <a:xfrm>
            <a:off x="685800" y="2377440"/>
            <a:ext cx="3474720" cy="1920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2377440"/>
            <a:ext cx="50292" cy="192024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523744"/>
            <a:ext cx="3063239" cy="1645920"/>
          </a:xfrm>
          <a:prstGeom prst="rect">
            <a:avLst/>
          </a:prstGeom>
          <a:noFill/>
        </p:spPr>
        <p:txBody>
          <a:bodyPr wrap="square">
            <a:spAutoFit/>
          </a:bodyPr>
          <a:lstStyle/>
          <a:p>
            <a:pPr algn="l">
              <a:spcAft>
                <a:spcPts val="400"/>
              </a:spcAft>
            </a:pPr>
            <a:r>
              <a:rPr sz="1500" b="1">
                <a:solidFill>
                  <a:srgbClr val="0D3158"/>
                </a:solidFill>
                <a:latin typeface="Segoe UI"/>
              </a:rPr>
              <a:t>Giai đoạn 1
Thí điểm</a:t>
            </a:r>
          </a:p>
          <a:p>
            <a:pPr algn="l">
              <a:spcAft>
                <a:spcPts val="400"/>
              </a:spcAft>
            </a:pPr>
            <a:r>
              <a:rPr sz="1150" b="0">
                <a:solidFill>
                  <a:srgbClr val="5B7085"/>
                </a:solidFill>
                <a:latin typeface="Segoe UI"/>
              </a:rPr>
              <a:t>1 xã/phường · 5 thủ tục hiện có
Đo: tỷ lệ hồ sơ đạt ngay lần đầu</a:t>
            </a:r>
          </a:p>
        </p:txBody>
      </p:sp>
      <p:sp>
        <p:nvSpPr>
          <p:cNvPr id="6" name="Rectangle 5"/>
          <p:cNvSpPr/>
          <p:nvPr/>
        </p:nvSpPr>
        <p:spPr>
          <a:xfrm>
            <a:off x="4389120" y="2377440"/>
            <a:ext cx="3474720" cy="1920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89120" y="2377440"/>
            <a:ext cx="50292" cy="1920240"/>
          </a:xfrm>
          <a:prstGeom prst="rect">
            <a:avLst/>
          </a:prstGeom>
          <a:solidFill>
            <a:srgbClr val="16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2523744"/>
            <a:ext cx="3063239" cy="1645920"/>
          </a:xfrm>
          <a:prstGeom prst="rect">
            <a:avLst/>
          </a:prstGeom>
          <a:noFill/>
        </p:spPr>
        <p:txBody>
          <a:bodyPr wrap="square">
            <a:spAutoFit/>
          </a:bodyPr>
          <a:lstStyle/>
          <a:p>
            <a:pPr algn="l">
              <a:spcAft>
                <a:spcPts val="400"/>
              </a:spcAft>
            </a:pPr>
            <a:r>
              <a:rPr sz="1500" b="1">
                <a:solidFill>
                  <a:srgbClr val="0D3158"/>
                </a:solidFill>
                <a:latin typeface="Segoe UI"/>
              </a:rPr>
              <a:t>Giai đoạn 2
Mở rộng thủ tục</a:t>
            </a:r>
          </a:p>
          <a:p>
            <a:pPr algn="l">
              <a:spcAft>
                <a:spcPts val="400"/>
              </a:spcAft>
            </a:pPr>
            <a:r>
              <a:rPr sz="1150" b="0">
                <a:solidFill>
                  <a:srgbClr val="5B7085"/>
                </a:solidFill>
                <a:latin typeface="Segoe UI"/>
              </a:rPr>
              <a:t>Bổ sung nhóm thủ tục hộ tịch – cư trú – đất đai
Chuẩn hoá quy trình đồng bộ nguồn</a:t>
            </a:r>
          </a:p>
        </p:txBody>
      </p:sp>
      <p:sp>
        <p:nvSpPr>
          <p:cNvPr id="9" name="Rectangle 8"/>
          <p:cNvSpPr/>
          <p:nvPr/>
        </p:nvSpPr>
        <p:spPr>
          <a:xfrm>
            <a:off x="8092440" y="2377440"/>
            <a:ext cx="3474720" cy="1920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92440" y="2377440"/>
            <a:ext cx="50292" cy="1920240"/>
          </a:xfrm>
          <a:prstGeom prst="rect">
            <a:avLst/>
          </a:prstGeom>
          <a:solidFill>
            <a:srgbClr val="0D31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2523744"/>
            <a:ext cx="3063239" cy="1645920"/>
          </a:xfrm>
          <a:prstGeom prst="rect">
            <a:avLst/>
          </a:prstGeom>
          <a:noFill/>
        </p:spPr>
        <p:txBody>
          <a:bodyPr wrap="square">
            <a:spAutoFit/>
          </a:bodyPr>
          <a:lstStyle/>
          <a:p>
            <a:pPr algn="l">
              <a:spcAft>
                <a:spcPts val="400"/>
              </a:spcAft>
            </a:pPr>
            <a:r>
              <a:rPr sz="1500" b="1">
                <a:solidFill>
                  <a:srgbClr val="0D3158"/>
                </a:solidFill>
                <a:latin typeface="Segoe UI"/>
              </a:rPr>
              <a:t>Giai đoạn 3
Nhân rộng</a:t>
            </a:r>
          </a:p>
          <a:p>
            <a:pPr algn="l">
              <a:spcAft>
                <a:spcPts val="400"/>
              </a:spcAft>
            </a:pPr>
            <a:r>
              <a:rPr sz="1150" b="0">
                <a:solidFill>
                  <a:srgbClr val="5B7085"/>
                </a:solidFill>
                <a:latin typeface="Segoe UI"/>
              </a:rPr>
              <a:t>Nhiều đơn vị trong cùng tỉnh
Bảng điều hành cho cơ quan quản lý</a:t>
            </a:r>
          </a:p>
        </p:txBody>
      </p:sp>
      <p:sp>
        <p:nvSpPr>
          <p:cNvPr id="12" name="Rectangle 11"/>
          <p:cNvSpPr/>
          <p:nvPr/>
        </p:nvSpPr>
        <p:spPr>
          <a:xfrm>
            <a:off x="685800" y="4572000"/>
            <a:ext cx="10789920" cy="914400"/>
          </a:xfrm>
          <a:prstGeom prst="rect">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 y="4572000"/>
            <a:ext cx="50292" cy="914400"/>
          </a:xfrm>
          <a:prstGeom prst="rect">
            <a:avLst/>
          </a:prstGeom>
          <a:solidFill>
            <a:srgbClr val="C2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700016"/>
            <a:ext cx="10378440" cy="658368"/>
          </a:xfrm>
          <a:prstGeom prst="rect">
            <a:avLst/>
          </a:prstGeom>
          <a:noFill/>
        </p:spPr>
        <p:txBody>
          <a:bodyPr wrap="square">
            <a:spAutoFit/>
          </a:bodyPr>
          <a:lstStyle/>
          <a:p>
            <a:pPr algn="l">
              <a:spcAft>
                <a:spcPts val="400"/>
              </a:spcAft>
            </a:pPr>
            <a:r>
              <a:rPr sz="1000" b="1">
                <a:solidFill>
                  <a:srgbClr val="C25A1E"/>
                </a:solidFill>
                <a:latin typeface="Segoe UI"/>
              </a:rPr>
              <a:t>⚠ CẦN SỐ LIỆU THẬT</a:t>
            </a:r>
          </a:p>
          <a:p>
            <a:pPr algn="l">
              <a:spcAft>
                <a:spcPts val="400"/>
              </a:spcAft>
            </a:pPr>
            <a:r>
              <a:rPr sz="1200" b="0">
                <a:solidFill>
                  <a:srgbClr val="1B2A3D"/>
                </a:solidFill>
                <a:latin typeface="Segoe UI"/>
              </a:rPr>
              <a:t>Mốc thời gian cụ thể cho từng giai đoạn + chỉ số nghiệm thu đã thống nhất với đơn vị thí điểm.</a:t>
            </a:r>
          </a:p>
        </p:txBody>
      </p:sp>
      <p:sp>
        <p:nvSpPr>
          <p:cNvPr id="15" name="TextBox 14"/>
          <p:cNvSpPr txBox="1"/>
          <p:nvPr/>
        </p:nvSpPr>
        <p:spPr>
          <a:xfrm>
            <a:off x="685800" y="5669280"/>
            <a:ext cx="10789920" cy="640080"/>
          </a:xfrm>
          <a:prstGeom prst="rect">
            <a:avLst/>
          </a:prstGeom>
          <a:noFill/>
        </p:spPr>
        <p:txBody>
          <a:bodyPr wrap="square">
            <a:spAutoFit/>
          </a:bodyPr>
          <a:lstStyle/>
          <a:p>
            <a:pPr algn="l">
              <a:spcAft>
                <a:spcPts val="600"/>
              </a:spcAft>
            </a:pPr>
            <a:r>
              <a:rPr sz="1500" b="1">
                <a:solidFill>
                  <a:srgbClr val="0D3158"/>
                </a:solidFill>
                <a:latin typeface="Segoe UI"/>
              </a:rPr>
              <a:t>Chỉ số Bắc Đẩu: tỷ lệ hồ sơ được tiếp nhận ngay lần nộp đầu tiên.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3158"/>
        </a:solidFill>
        <a:effectLst/>
      </p:bgPr>
    </p:bg>
    <p:spTree>
      <p:nvGrpSpPr>
        <p:cNvPr id="1" name=""/>
        <p:cNvGrpSpPr/>
        <p:nvPr/>
      </p:nvGrpSpPr>
      <p:grpSpPr>
        <a:xfrm>
          <a:off x="0" y="0"/>
          <a:ext cx="0" cy="0"/>
          <a:chOff x="0" y="0"/>
          <a:chExt cx="0" cy="0"/>
        </a:xfrm>
      </p:grpSpPr>
      <p:sp>
        <p:nvSpPr>
          <p:cNvPr id="2" name="TextBox 1"/>
          <p:cNvSpPr txBox="1"/>
          <p:nvPr/>
        </p:nvSpPr>
        <p:spPr>
          <a:xfrm>
            <a:off x="822960" y="1005840"/>
            <a:ext cx="10515600" cy="1097280"/>
          </a:xfrm>
          <a:prstGeom prst="rect">
            <a:avLst/>
          </a:prstGeom>
          <a:noFill/>
        </p:spPr>
        <p:txBody>
          <a:bodyPr wrap="square">
            <a:spAutoFit/>
          </a:bodyPr>
          <a:lstStyle/>
          <a:p>
            <a:pPr algn="l">
              <a:spcAft>
                <a:spcPts val="600"/>
              </a:spcAft>
            </a:pPr>
            <a:r>
              <a:rPr sz="1300" b="1">
                <a:solidFill>
                  <a:srgbClr val="8FC7E8"/>
                </a:solidFill>
                <a:latin typeface="Segoe UI"/>
              </a:rPr>
              <a:t>LỜI ĐỀ NGHỊ</a:t>
            </a:r>
          </a:p>
          <a:p>
            <a:pPr algn="l">
              <a:spcAft>
                <a:spcPts val="600"/>
              </a:spcAft>
            </a:pPr>
            <a:r>
              <a:rPr sz="3800" b="1">
                <a:solidFill>
                  <a:srgbClr val="FFFFFF"/>
                </a:solidFill>
                <a:latin typeface="Segoe UI"/>
              </a:rPr>
              <a:t>Chúng tôi cần gì để đi tiếp</a:t>
            </a:r>
          </a:p>
        </p:txBody>
      </p:sp>
      <p:sp>
        <p:nvSpPr>
          <p:cNvPr id="3" name="Rectangle 2"/>
          <p:cNvSpPr/>
          <p:nvPr/>
        </p:nvSpPr>
        <p:spPr>
          <a:xfrm>
            <a:off x="822960" y="2514600"/>
            <a:ext cx="3383280" cy="1737360"/>
          </a:xfrm>
          <a:prstGeom prst="rect">
            <a:avLst/>
          </a:prstGeom>
          <a:solidFill>
            <a:srgbClr val="153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22960" y="2514600"/>
            <a:ext cx="3383280" cy="54864"/>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2697480"/>
            <a:ext cx="3017520" cy="1463040"/>
          </a:xfrm>
          <a:prstGeom prst="rect">
            <a:avLst/>
          </a:prstGeom>
          <a:noFill/>
        </p:spPr>
        <p:txBody>
          <a:bodyPr wrap="square">
            <a:spAutoFit/>
          </a:bodyPr>
          <a:lstStyle/>
          <a:p>
            <a:pPr algn="l">
              <a:spcAft>
                <a:spcPts val="500"/>
              </a:spcAft>
            </a:pPr>
            <a:r>
              <a:rPr sz="1600" b="1">
                <a:solidFill>
                  <a:srgbClr val="FFFFFF"/>
                </a:solidFill>
                <a:latin typeface="Segoe UI"/>
              </a:rPr>
              <a:t>Một đơn vị thí điểm</a:t>
            </a:r>
          </a:p>
          <a:p>
            <a:pPr algn="l">
              <a:spcAft>
                <a:spcPts val="500"/>
              </a:spcAft>
            </a:pPr>
            <a:r>
              <a:rPr sz="1200" b="0">
                <a:solidFill>
                  <a:srgbClr val="B9D3E8"/>
                </a:solidFill>
                <a:latin typeface="Segoe UI"/>
              </a:rPr>
              <a:t>Giới thiệu tới một UBND cấp xã sẵn sàng chạy thử 5 thủ tục trong 3 tháng.</a:t>
            </a:r>
          </a:p>
        </p:txBody>
      </p:sp>
      <p:sp>
        <p:nvSpPr>
          <p:cNvPr id="6" name="Rectangle 5"/>
          <p:cNvSpPr/>
          <p:nvPr/>
        </p:nvSpPr>
        <p:spPr>
          <a:xfrm>
            <a:off x="4434840" y="2514600"/>
            <a:ext cx="3383280" cy="1737360"/>
          </a:xfrm>
          <a:prstGeom prst="rect">
            <a:avLst/>
          </a:prstGeom>
          <a:solidFill>
            <a:srgbClr val="153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34840" y="2514600"/>
            <a:ext cx="3383280" cy="54864"/>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2697480"/>
            <a:ext cx="3017520" cy="1463040"/>
          </a:xfrm>
          <a:prstGeom prst="rect">
            <a:avLst/>
          </a:prstGeom>
          <a:noFill/>
        </p:spPr>
        <p:txBody>
          <a:bodyPr wrap="square">
            <a:spAutoFit/>
          </a:bodyPr>
          <a:lstStyle/>
          <a:p>
            <a:pPr algn="l">
              <a:spcAft>
                <a:spcPts val="500"/>
              </a:spcAft>
            </a:pPr>
            <a:r>
              <a:rPr sz="1600" b="1">
                <a:solidFill>
                  <a:srgbClr val="FFFFFF"/>
                </a:solidFill>
                <a:latin typeface="Segoe UI"/>
              </a:rPr>
              <a:t>Cố vấn khu vực công</a:t>
            </a:r>
          </a:p>
          <a:p>
            <a:pPr algn="l">
              <a:spcAft>
                <a:spcPts val="500"/>
              </a:spcAft>
            </a:pPr>
            <a:r>
              <a:rPr sz="1200" b="0">
                <a:solidFill>
                  <a:srgbClr val="B9D3E8"/>
                </a:solidFill>
                <a:latin typeface="Segoe UI"/>
              </a:rPr>
              <a:t>Người hiểu quy trình công bố thủ tục và mua sắm công.</a:t>
            </a:r>
          </a:p>
        </p:txBody>
      </p:sp>
      <p:sp>
        <p:nvSpPr>
          <p:cNvPr id="9" name="Rectangle 8"/>
          <p:cNvSpPr/>
          <p:nvPr/>
        </p:nvSpPr>
        <p:spPr>
          <a:xfrm>
            <a:off x="8046720" y="2514600"/>
            <a:ext cx="3383280" cy="1737360"/>
          </a:xfrm>
          <a:prstGeom prst="rect">
            <a:avLst/>
          </a:prstGeom>
          <a:solidFill>
            <a:srgbClr val="153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46720" y="2514600"/>
            <a:ext cx="3383280" cy="54864"/>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0" y="2697480"/>
            <a:ext cx="3017520" cy="1463040"/>
          </a:xfrm>
          <a:prstGeom prst="rect">
            <a:avLst/>
          </a:prstGeom>
          <a:noFill/>
        </p:spPr>
        <p:txBody>
          <a:bodyPr wrap="square">
            <a:spAutoFit/>
          </a:bodyPr>
          <a:lstStyle/>
          <a:p>
            <a:pPr algn="l">
              <a:spcAft>
                <a:spcPts val="500"/>
              </a:spcAft>
            </a:pPr>
            <a:r>
              <a:rPr sz="1600" b="1">
                <a:solidFill>
                  <a:srgbClr val="FFFFFF"/>
                </a:solidFill>
                <a:latin typeface="Segoe UI"/>
              </a:rPr>
              <a:t>Nguồn lực vận hành</a:t>
            </a:r>
          </a:p>
          <a:p>
            <a:pPr algn="l">
              <a:spcAft>
                <a:spcPts val="500"/>
              </a:spcAft>
            </a:pPr>
            <a:r>
              <a:rPr sz="1200" b="0">
                <a:solidFill>
                  <a:srgbClr val="B9D3E8"/>
                </a:solidFill>
                <a:latin typeface="Segoe UI"/>
              </a:rPr>
              <a:t>Đủ để duy trì hạ tầng và đồng bộ danh mục thủ tục trong thời gian thí điểm.</a:t>
            </a:r>
          </a:p>
        </p:txBody>
      </p:sp>
      <p:sp>
        <p:nvSpPr>
          <p:cNvPr id="15" name="TextBox 14"/>
          <p:cNvSpPr txBox="1"/>
          <p:nvPr/>
        </p:nvSpPr>
        <p:spPr>
          <a:xfrm>
            <a:off x="822960" y="5669280"/>
            <a:ext cx="10515600" cy="731520"/>
          </a:xfrm>
          <a:prstGeom prst="rect">
            <a:avLst/>
          </a:prstGeom>
          <a:noFill/>
        </p:spPr>
        <p:txBody>
          <a:bodyPr wrap="square">
            <a:spAutoFit/>
          </a:bodyPr>
          <a:lstStyle/>
          <a:p>
            <a:pPr algn="l">
              <a:spcAft>
                <a:spcPts val="600"/>
              </a:spcAft>
            </a:pPr>
            <a:r>
              <a:rPr sz="1500" b="1">
                <a:solidFill>
                  <a:srgbClr val="A9CBE3"/>
                </a:solidFill>
                <a:latin typeface="Segoe UI"/>
              </a:rPr>
              <a:t>Mục tiêu 3 tháng: chứng minh tỷ lệ hồ sơ đạt ngay lần đầu tăng rõ rệt tại một đơn vị thật.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1280160" y="2286000"/>
            <a:ext cx="9601200" cy="2194560"/>
          </a:xfrm>
          <a:prstGeom prst="rect">
            <a:avLst/>
          </a:prstGeom>
          <a:noFill/>
        </p:spPr>
        <p:txBody>
          <a:bodyPr wrap="square">
            <a:spAutoFit/>
          </a:bodyPr>
          <a:lstStyle/>
          <a:p>
            <a:pPr algn="ctr">
              <a:spcAft>
                <a:spcPts val="1400"/>
              </a:spcAft>
            </a:pPr>
            <a:r>
              <a:rPr sz="3400" b="1">
                <a:solidFill>
                  <a:srgbClr val="5B7085"/>
                </a:solidFill>
                <a:latin typeface="Segoe UI"/>
              </a:rPr>
              <a:t>Người dân không cần hiểu AI.</a:t>
            </a:r>
          </a:p>
          <a:p>
            <a:pPr algn="ctr">
              <a:spcAft>
                <a:spcPts val="1400"/>
              </a:spcAft>
            </a:pPr>
            <a:r>
              <a:rPr sz="4400" b="1">
                <a:solidFill>
                  <a:srgbClr val="0D3158"/>
                </a:solidFill>
                <a:latin typeface="Segoe UI"/>
              </a:rPr>
              <a:t>Họ cần đi một lần là xong.</a:t>
            </a:r>
          </a:p>
        </p:txBody>
      </p:sp>
      <p:sp>
        <p:nvSpPr>
          <p:cNvPr id="3" name="Rectangle 2"/>
          <p:cNvSpPr/>
          <p:nvPr/>
        </p:nvSpPr>
        <p:spPr>
          <a:xfrm>
            <a:off x="4937760" y="4709160"/>
            <a:ext cx="2286000" cy="45720"/>
          </a:xfrm>
          <a:prstGeom prst="rect">
            <a:avLst/>
          </a:prstGeom>
          <a:solidFill>
            <a:srgbClr val="17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0160" y="4983480"/>
            <a:ext cx="9601200" cy="914400"/>
          </a:xfrm>
          <a:prstGeom prst="rect">
            <a:avLst/>
          </a:prstGeom>
          <a:noFill/>
        </p:spPr>
        <p:txBody>
          <a:bodyPr wrap="square">
            <a:spAutoFit/>
          </a:bodyPr>
          <a:lstStyle/>
          <a:p>
            <a:pPr algn="ctr">
              <a:spcAft>
                <a:spcPts val="400"/>
              </a:spcAft>
            </a:pPr>
            <a:r>
              <a:rPr sz="1600" b="1">
                <a:solidFill>
                  <a:srgbClr val="0D3158"/>
                </a:solidFill>
                <a:latin typeface="Segoe UI"/>
              </a:rPr>
              <a:t>UBNDAI · Trợ lý thủ tục hành chính</a:t>
            </a:r>
          </a:p>
          <a:p>
            <a:pPr algn="ctr">
              <a:spcAft>
                <a:spcPts val="400"/>
              </a:spcAft>
            </a:pPr>
            <a:r>
              <a:rPr sz="1300" b="0">
                <a:solidFill>
                  <a:srgbClr val="5B7085"/>
                </a:solidFill>
                <a:latin typeface="Segoe UI"/>
              </a:rPr>
              <a:t>ubndai.vercel.app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2350</Words>
  <Application>Microsoft Office PowerPoint</Application>
  <PresentationFormat>Widescreen</PresentationFormat>
  <Paragraphs>149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Lương Quốc Dũng</cp:lastModifiedBy>
  <cp:revision>3</cp:revision>
  <dcterms:created xsi:type="dcterms:W3CDTF">2013-01-27T09:14:16Z</dcterms:created>
  <dcterms:modified xsi:type="dcterms:W3CDTF">2026-07-19T03:53:30Z</dcterms:modified>
  <cp:category/>
</cp:coreProperties>
</file>